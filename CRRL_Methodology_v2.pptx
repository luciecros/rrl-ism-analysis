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502920"/>
            <a:ext cx="115488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2D641C"/>
                </a:solidFill>
              </a:rPr>
              <a:t>Méthodologie d'analyse des raies de
recombinaison radio du carbone avec NenuFAR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2148840"/>
            <a:ext cx="11548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8640A"/>
                </a:solidFill>
              </a:rPr>
              <a:t>Code disponible sur  github.com/LucieCros/rrl-ism-analysis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2926080"/>
            <a:ext cx="11548872" cy="127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09067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</a:rPr>
              <a:t>Lucie Cros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584448"/>
            <a:ext cx="11548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NenuFAR LT10  ·  CRRLs basse fréquence (10 – 85 MHz)  ·  Milieu interstellaire diffus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6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94592" y="65105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D641C"/>
                </a:solidFill>
              </a:rPr>
              <a:t>Le cycle de la matière dans le milieu interstellaire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969264"/>
            <a:ext cx="11548872" cy="31750"/>
          </a:xfrm>
          <a:prstGeom prst="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2412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Contexte : pourquoi étudier le MIS 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6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11548872" cy="4846320"/>
          </a:xfrm>
          <a:prstGeom prst="rect">
            <a:avLst/>
          </a:prstGeom>
          <a:solidFill>
            <a:srgbClr val="F2F2F2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554480"/>
            <a:ext cx="11329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888888"/>
                </a:solidFill>
              </a:rPr>
              <a:t>[ Figure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847088"/>
            <a:ext cx="11329416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</a:rPr>
              <a:t>Diagramme de phase du MIS (Température vs Densité)
Phases : HIM · WIM · WNM · CNM · nuages translucides · nuages moléculaires denses
Cycles : effondrement gravitationnel, vents stellaires, supernovæ, turbulence
[figure par A. Gusdorf ou équivalent]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355080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figure par A. Gusdorf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D641C"/>
                </a:solidFill>
              </a:rPr>
              <a:t>Le milieu interstellaire diffus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969264"/>
            <a:ext cx="11548872" cy="31750"/>
          </a:xfrm>
          <a:prstGeom prst="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2412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Contexte : pourquoi étudier les phases les plus froides du MIS 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6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44752"/>
            <a:ext cx="55915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E8A35"/>
                </a:solidFill>
              </a:rPr>
              <a:t>Phases du MIS — diagramme T–ρ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5591556" cy="19050"/>
          </a:xfrm>
          <a:prstGeom prst="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47088"/>
            <a:ext cx="5591556" cy="2926080"/>
          </a:xfrm>
          <a:prstGeom prst="rect">
            <a:avLst/>
          </a:prstGeom>
          <a:solidFill>
            <a:srgbClr val="F2F2F2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956816"/>
            <a:ext cx="53721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888888"/>
                </a:solidFill>
              </a:rPr>
              <a:t>[ Figure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249424"/>
            <a:ext cx="5372100" cy="241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</a:rPr>
              <a:t>Diagramme T–ρ avec zoom sur CNM
Te ~ 10–100 K · ne ~ 10⁻² cm⁻³
[même figure que diapositive précédente, zoomée sur le CNM]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892040"/>
            <a:ext cx="55915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41C"/>
                </a:solidFill>
              </a:rPr>
              <a:t>Quels sont les moteurs de la transition entre les phases ?</a:t>
            </a:r>
          </a:p>
          <a:p>
            <a:pPr algn="l">
              <a:spcBef>
                <a:spcPts val="300"/>
              </a:spcBef>
            </a:pPr>
            <a:r>
              <a:rPr sz="1300" b="1" i="0">
                <a:solidFill>
                  <a:srgbClr val="2D641C"/>
                </a:solidFill>
              </a:rPr>
              <a:t>Comment exactement évoluent la température et la densité 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03036" y="1417320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3036" y="1517904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03036" y="1618488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03036" y="1719072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03036" y="1819656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03036" y="1920240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03036" y="2020824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03036" y="2121408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03036" y="2221992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03036" y="2322576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03036" y="2423160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03036" y="2523744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03036" y="2624328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03036" y="2724912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03036" y="2825496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03036" y="2926080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03036" y="3026664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03036" y="3127248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03036" y="3227832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03036" y="3328416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03036" y="3429000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03036" y="3529584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03036" y="3630168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03036" y="3730752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03036" y="3831336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03036" y="3931920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03036" y="4032504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03036" y="4133088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03036" y="4233672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03036" y="4334256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03036" y="4434840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03036" y="4535424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03036" y="4636008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03036" y="4736592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03036" y="4837176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03036" y="4937760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03036" y="5038344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03036" y="5138928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03036" y="5239512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003036" y="5340096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03036" y="5440680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003036" y="5541264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003036" y="5641848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03036" y="5742432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003036" y="5843016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03036" y="5943600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003036" y="6044184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003036" y="6144768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40196" y="1444752"/>
            <a:ext cx="57287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E8A35"/>
                </a:solidFill>
              </a:rPr>
              <a:t>Exemple de transition : région de photodissociation (PDR)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40196" y="1783080"/>
            <a:ext cx="5728716" cy="19050"/>
          </a:xfrm>
          <a:prstGeom prst="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40196" y="1847088"/>
            <a:ext cx="5728716" cy="2468880"/>
          </a:xfrm>
          <a:prstGeom prst="rect">
            <a:avLst/>
          </a:prstGeom>
          <a:solidFill>
            <a:srgbClr val="F2F2F2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49924" y="1956816"/>
            <a:ext cx="55092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888888"/>
                </a:solidFill>
              </a:rPr>
              <a:t>[ Figure 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9924" y="2249424"/>
            <a:ext cx="550926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</a:rPr>
              <a:t>Schéma de structure d'une PDR
(Gordon &amp; Sorochenko 2009, Fig. 31.2 ou équivalent)
HII · front d'ionisation · front de dissociation · nuage moléculaire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40196" y="4434840"/>
            <a:ext cx="57287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E₀(C) = −11.2 eV  &lt;  E₀(H) = −13.6 eV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40196" y="4846320"/>
            <a:ext cx="57287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⟹  Le carbone est ionisé là où l'hydrogène est globalement neutre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555555"/>
                </a:solidFill>
              </a:rPr>
              <a:t>→ mais où ? (HI ? moléculaire ? diffus ? dense ?)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D641C"/>
                </a:solidFill>
              </a:rPr>
              <a:t>CRRLs aux basses fréquences — paramètres physiques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969264"/>
            <a:ext cx="11548872" cy="31750"/>
          </a:xfrm>
          <a:prstGeom prst="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2412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Ce que les raies de recombinaison du carbone nous apprennent sur le MIS local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6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44752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E8A35"/>
                </a:solidFill>
              </a:rPr>
              <a:t>Régimes d'excitation — Tx/Tbg vs 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5532120" cy="19050"/>
          </a:xfrm>
          <a:prstGeom prst="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47088"/>
            <a:ext cx="5532120" cy="3017520"/>
          </a:xfrm>
          <a:prstGeom prst="rect">
            <a:avLst/>
          </a:prstGeom>
          <a:solidFill>
            <a:srgbClr val="F2F2F2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956816"/>
            <a:ext cx="5312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888888"/>
                </a:solidFill>
              </a:rPr>
              <a:t>[ Figure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249424"/>
            <a:ext cx="5312664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</a:rPr>
              <a:t>Graphe Tx/Tbg vs niveau quantique n
(Te = 100 K, Ne = 10⁻² cm⁻³)
Zones : Émission (rouge) · Inversion (jaune) · Absorption (cyan)
[générer depuis spectral_tools/modeling.py ou reproduire depuis Gordon &amp; Sorochenko 1992]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983480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Cnα,  n ∈ [400, 850]  →  ~450 raies dans 70 MHz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440680"/>
            <a:ext cx="55321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532120"/>
            <a:ext cx="525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Raies en absorption devant la source de fond radio
⟹  contraintes physico-chimiques sur le MIS local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417320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1517904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618488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1719072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1819656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1920240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2020824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0" y="2121408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2221992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2322576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2423160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0" y="2523744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2624328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2724912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2825496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2926080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3026664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0" y="3127248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3227832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0" y="3328416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3429000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0" y="3529584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0" y="3630168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0" y="3730752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3831336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43600" y="3931920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43600" y="4032504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0" y="4133088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0" y="4233672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43600" y="4334256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0" y="4434840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43600" y="4535424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0" y="4636008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43600" y="4736592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43600" y="4837176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943600" y="4937760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943600" y="5038344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43600" y="5138928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943600" y="5239512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943600" y="5340096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43600" y="5440680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943600" y="5541264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43600" y="5641848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943600" y="5742432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943600" y="5843016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43600" y="5943600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6044184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6144768"/>
            <a:ext cx="127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80760" y="1444752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E8A35"/>
                </a:solidFill>
              </a:rPr>
              <a:t>Profil de raie &amp; paramètres extraits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80760" y="1783080"/>
            <a:ext cx="5788152" cy="19050"/>
          </a:xfrm>
          <a:prstGeom prst="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80760" y="1847088"/>
            <a:ext cx="5788152" cy="2240280"/>
          </a:xfrm>
          <a:prstGeom prst="rect">
            <a:avLst/>
          </a:prstGeom>
          <a:solidFill>
            <a:srgbClr val="F2F2F2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90488" y="1956816"/>
            <a:ext cx="5568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888888"/>
                </a:solidFill>
              </a:rPr>
              <a:t>[ Figure 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90488" y="2249424"/>
            <a:ext cx="5568696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</a:rPr>
              <a:t>Profil de Voigt en absorption
(Gordon &amp; Sorochenko, 2009)
Flèches : Te, ne, L (largeur intégrée) · Te, ne, T₀, vturb (largeur de raie)
[figure de référence ou générer depuis modeling.py]</a:t>
            </a:r>
          </a:p>
        </p:txBody>
      </p:sp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6080760" y="4206240"/>
          <a:ext cx="578815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9384"/>
                <a:gridCol w="1929384"/>
                <a:gridCol w="1929384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Param.</a:t>
                      </a:r>
                    </a:p>
                  </a:txBody>
                  <a:tcPr>
                    <a:solidFill>
                      <a:srgbClr val="2D64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Signification</a:t>
                      </a:r>
                    </a:p>
                  </a:txBody>
                  <a:tcPr>
                    <a:solidFill>
                      <a:srgbClr val="2D64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Gamme typique (CNM)</a:t>
                      </a:r>
                    </a:p>
                  </a:txBody>
                  <a:tcPr>
                    <a:solidFill>
                      <a:srgbClr val="2D641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55555"/>
                          </a:solidFill>
                        </a:rPr>
                        <a:t>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Température électronique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&lt; 100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55555"/>
                          </a:solidFill>
                        </a:rPr>
                        <a:t>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Densité électronique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~10⁻² cm⁻³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55555"/>
                          </a:solidFill>
                        </a:rPr>
                        <a:t>vt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Vitesse turbulente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2 – 8 km/s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55555"/>
                          </a:solidFill>
                        </a:rPr>
                        <a:t>T₀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Température de radiation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1 000 – 3 000 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55555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Taille du nuage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&lt; 50 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D641C"/>
                </a:solidFill>
              </a:rPr>
              <a:t>Pourquoi les CRRLs seules ne suffisent pas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969264"/>
            <a:ext cx="11548872" cy="31750"/>
          </a:xfrm>
          <a:prstGeom prst="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2412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Trois obstacles à l'identification des nuages physiques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6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5682996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29768" y="1536192"/>
            <a:ext cx="347472" cy="3474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5361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63624"/>
            <a:ext cx="50612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Dégénérescence L – T₀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039112"/>
            <a:ext cx="5481828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Les paramètres L (taille du nuage le long de la ligne de visée) et T₀ sont difficiles à contraindre indépendamment à partir des seules CRRLs. La surface de χ² minimale présente plusieurs minima locaux.
→  Un a priori externe sur L est indispensable.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5916" y="1444752"/>
            <a:ext cx="5682996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95644" y="153619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5644" y="15361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4556" y="1563624"/>
            <a:ext cx="50612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Composantes en vitesse superposées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5644" y="2039112"/>
            <a:ext cx="5481828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Plusieurs nuages distincts se superposent sur une même ligne de visée à des vitesses proches (ex. −47, −38 et 0 km/s vers Cas A). Les profils de raie se mélangent aux basses fréquences, rendant la séparation délicate.
→  Des contraintes indépendantes sur les vitesses sont nécessaires.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758184"/>
            <a:ext cx="5682996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9768" y="3849624"/>
            <a:ext cx="347472" cy="347472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38496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77056"/>
            <a:ext cx="50612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80B9"/>
                </a:solidFill>
              </a:rPr>
              <a:t>Phases atomiques sans contrepartie 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4352544"/>
            <a:ext cx="5481828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Certains nuages atomiques diffus ne présentent aucune émission CO détectable (ex. +3,5 km/s vers Cyg A). Le traceur moléculaire classique est aveugle à ces phases.
→  Un traceur de la composante atomique diffuse est indispensable.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5916" y="3758184"/>
            <a:ext cx="5682996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95644" y="3849624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5644" y="38496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4556" y="3877056"/>
            <a:ext cx="50612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Absence de prior sur les composantes en vitesse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5644" y="4352544"/>
            <a:ext cx="5481828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Si la source n'a jamais été observée en RRLs, on ne sait pas a priori combien de composantes spectrales s'y trouvent ni leurs vitesses.
→  Les traceurs multi-longueurs d'onde guident la recherche des CRRLs.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D641C"/>
                </a:solidFill>
              </a:rPr>
              <a:t>Vue d'ensemble du pipeline d'analyse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969264"/>
            <a:ext cx="11548872" cy="31750"/>
          </a:xfrm>
          <a:prstGeom prst="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2412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De l'observation NenuFAR brute aux paramètres physiques du MIS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6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44752"/>
            <a:ext cx="201168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D6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44752"/>
            <a:ext cx="2011680" cy="457200"/>
          </a:xfrm>
          <a:prstGeom prst="rect">
            <a:avLst/>
          </a:prstGeom>
          <a:solidFill>
            <a:srgbClr val="7D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44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4767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D6B28"/>
                </a:solidFill>
              </a:rPr>
              <a:t>Identification
des nuages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79192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Poussière · CO · HI
Faisceaux NenuFAR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2862072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E8A35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7183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Notebook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87752" y="1444752"/>
            <a:ext cx="201168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87752" y="1444752"/>
            <a:ext cx="201168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87752" y="1444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7752" y="194767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980B9"/>
                </a:solidFill>
              </a:rPr>
              <a:t>Nettoyage
spectral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679192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RFI · ligne de base
Moyennage temporel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862072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E8A35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87752" y="47183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Pipelines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64024" y="1444752"/>
            <a:ext cx="201168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64024" y="1444752"/>
            <a:ext cx="201168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64024" y="1444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4024" y="194767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Empilement
pondéré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5464" y="2679192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Pondération 1/σ²
Intervalles en 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2862072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E8A35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4024" y="47183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Notebook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0296" y="1444752"/>
            <a:ext cx="201168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40296" y="1444752"/>
            <a:ext cx="201168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0296" y="1444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0296" y="194767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E44AD"/>
                </a:solidFill>
              </a:rPr>
              <a:t>Ajustement
Voigt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31736" y="2679192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Centre · FWHM · Aire
par intervalle de 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0264" y="2862072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E8A35"/>
                </a:solidFill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0296" y="47183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Notebook 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16568" y="1444752"/>
            <a:ext cx="201168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16568" y="1444752"/>
            <a:ext cx="201168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16568" y="1444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16568" y="194767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7E22"/>
                </a:solidFill>
              </a:rPr>
              <a:t>Grille χ²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08008" y="2679192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Te · ne · L · T₀ · vt
Confidence regions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6568" y="47183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Notebook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D641C"/>
                </a:solidFill>
              </a:rPr>
              <a:t>Solution : trois traceurs complémentaires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969264"/>
            <a:ext cx="11548872" cy="31750"/>
          </a:xfrm>
          <a:prstGeom prst="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2412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Croisement systématique de trois observables pour identifier les nuages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6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64008" cy="1481328"/>
          </a:xfrm>
          <a:prstGeom prst="rect">
            <a:avLst/>
          </a:prstGeom>
          <a:solidFill>
            <a:srgbClr val="7D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44752"/>
            <a:ext cx="569671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5513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Poussière interstellaire</a:t>
            </a:r>
          </a:p>
          <a:p>
            <a:pPr algn="l">
              <a:spcBef>
                <a:spcPts val="0"/>
              </a:spcBef>
            </a:pPr>
            <a:r>
              <a:rPr sz="1100" b="0" i="1">
                <a:solidFill>
                  <a:srgbClr val="555555"/>
                </a:solidFill>
              </a:rPr>
              <a:t>Edenhofer et al. 2024  (Gaia DR3)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55138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Rés. ang. : 14'  ·  Rés. radiale : ~1 pc  ·  Portée : 1,25 kpc
Cartographie 3D des nuages absorbants dans le voisinage solaire. Mesure de la FWHM le long de la ligne de visée → fournit un a priori sur L et sur la distance des nuages.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035808"/>
            <a:ext cx="64008" cy="14813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3035808"/>
            <a:ext cx="569671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27248"/>
            <a:ext cx="5513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Émission ¹²CO  (J = 1–0)</a:t>
            </a:r>
          </a:p>
          <a:p>
            <a:pPr algn="l">
              <a:spcBef>
                <a:spcPts val="0"/>
              </a:spcBef>
            </a:pPr>
            <a:r>
              <a:rPr sz="1100" b="0" i="1">
                <a:solidFill>
                  <a:srgbClr val="555555"/>
                </a:solidFill>
              </a:rPr>
              <a:t>Dame et al. 2001  (CfA 1,2 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11296"/>
            <a:ext cx="55138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Rés. ang. : 8,5'  ·  Rés. spectrale : 0,65 km/s  ·  Plan galactique complet
Trace le gaz moléculaire dense. Composantes en vitesse identifiées par comparaison des spectres moyennés dans le faisceau NenuFAR.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626864"/>
            <a:ext cx="64008" cy="14813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4626864"/>
            <a:ext cx="569671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718304"/>
            <a:ext cx="5513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Émission HI à 21 cm</a:t>
            </a:r>
          </a:p>
          <a:p>
            <a:pPr algn="l">
              <a:spcBef>
                <a:spcPts val="0"/>
              </a:spcBef>
            </a:pPr>
            <a:r>
              <a:rPr sz="1100" b="0" i="1">
                <a:solidFill>
                  <a:srgbClr val="555555"/>
                </a:solidFill>
              </a:rPr>
              <a:t>HI4PI Collaboration 2016  (EBHIS)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02352"/>
            <a:ext cx="55138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Rés. ang. : 16,2'  ·  Rés. spectrale : ~1,3 km/s  ·  Ciel complet
Trace la composante atomique diffuse, y compris les phases sans CO. Exploité de manière analogue aux cubes CO.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444752"/>
            <a:ext cx="5650992" cy="2276856"/>
          </a:xfrm>
          <a:prstGeom prst="rect">
            <a:avLst/>
          </a:prstGeom>
          <a:solidFill>
            <a:srgbClr val="F2F2F2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1554480"/>
            <a:ext cx="5431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888888"/>
                </a:solidFill>
              </a:rPr>
              <a:t>[ Figure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847088"/>
            <a:ext cx="5431536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</a:rPr>
              <a:t>Carte CO + spectres dans le faisceau NenuFAR
(composantes en vitesse identifiées)
figures/Cloud-ID/ZOOMIN_REALBEAM_Cas_A_CO.pdf
ou CHANNEL_MAP_Cas_A_CO.pdf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831336"/>
            <a:ext cx="5650992" cy="2276856"/>
          </a:xfrm>
          <a:prstGeom prst="rect">
            <a:avLst/>
          </a:prstGeom>
          <a:solidFill>
            <a:srgbClr val="F2F2F2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3941064"/>
            <a:ext cx="5431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888888"/>
                </a:solidFill>
              </a:rPr>
              <a:t>[ Figure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4233672"/>
            <a:ext cx="5431536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</a:rPr>
              <a:t>Carte HI + spectres dans le faisceau NenuFAR
figures/Cloud-ID/ZOOMIN_REALBEAM_Cas_A_HI.pdf
ou CHANNEL_MAP_Cas_A_HI.pdf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D641C"/>
                </a:solidFill>
              </a:rPr>
              <a:t>Procédure d'identification — Cloud-id.ipynb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969264"/>
            <a:ext cx="11548872" cy="31750"/>
          </a:xfrm>
          <a:prstGeom prst="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2412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Pipeline en 4 étapes appliqué systématiquement à chaque ligne de visée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6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5682996" cy="38100"/>
          </a:xfrm>
          <a:prstGeom prst="rect">
            <a:avLst/>
          </a:prstGeom>
          <a:solidFill>
            <a:srgbClr val="7D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29768" y="1536192"/>
            <a:ext cx="347472" cy="347472"/>
          </a:xfrm>
          <a:prstGeom prst="ellipse">
            <a:avLst/>
          </a:prstGeom>
          <a:solidFill>
            <a:srgbClr val="7D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5361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63624"/>
            <a:ext cx="50612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D6B28"/>
                </a:solidFill>
              </a:rPr>
              <a:t>Repérage des nuages de poussière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039112"/>
            <a:ext cx="548182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Chargement des cartes Edenhofer 2024 (Gaia DR3). Détection des pics d'extinction et mesure de leur FWHM le long de la ligne de visée. Distances héliocentrques des structures absorbantes.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5916" y="1444752"/>
            <a:ext cx="5682996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95644" y="153619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5644" y="15361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4556" y="1563624"/>
            <a:ext cx="50612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Corrélation avec CO et 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5644" y="2039112"/>
            <a:ext cx="548182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Spectres ¹²CO (Dame 2001) et HI (HI4PI) moyennés dans le faisceau NenuFAR. Recherche de composantes en vitesse communes avec les CRRLs. Calcul des moments d'ordre 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639312"/>
            <a:ext cx="5682996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9768" y="3730752"/>
            <a:ext cx="347472" cy="347472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37307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758184"/>
            <a:ext cx="50612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80B9"/>
                </a:solidFill>
              </a:rPr>
              <a:t>Cohérence cinématique (si CO absent)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4233672"/>
            <a:ext cx="548182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Calcul de la vitesse LSR théorique en fonction de la distance héliocentrique via le modèle galactique Reid et al. 2019, implémenté dans spectral_tools/reid19_rotcurve.py  et  kd_utils.py.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5916" y="3639312"/>
            <a:ext cx="5682996" cy="381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95644" y="3730752"/>
            <a:ext cx="347472" cy="347472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5644" y="37307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4556" y="3758184"/>
            <a:ext cx="50612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</a:rPr>
              <a:t>Extraction d'un a priori sur L  +  v_centre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5644" y="4233672"/>
            <a:ext cx="548182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La FWHM du nuage de poussière fournit un a priori sur L — paramètre intrinsèquement dégénéré avec T₀ dans le modèle à 5 paramètres.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833872"/>
            <a:ext cx="11548872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2D6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925312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41C"/>
                </a:solidFill>
              </a:rPr>
              <a:t>Résultat : position, distance et taille de chaque nuage  →  a priori sur L injecté dans l'exploration de grille physique (Te, ne, T₀, vt, 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D641C"/>
                </a:solidFill>
              </a:rPr>
              <a:t>Étape 2 — Nettoyage spectral &amp; moyennage temporel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969264"/>
            <a:ext cx="11548872" cy="31750"/>
          </a:xfrm>
          <a:prstGeom prst="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2412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Pipelines : clean_observation.py  ·  run_time_average.py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6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55555"/>
                </a:solidFill>
              </a:rPr>
              <a:t>• Entrée : spectres FITS Level-1 NenuFAR (un bloc par observation)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555555"/>
                </a:solidFill>
              </a:rPr>
              <a:t>• Masquage RFI : canaux à amplitude anormale flagués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555555"/>
                </a:solidFill>
              </a:rPr>
              <a:t>• Soustraction de continu : ligne de base log-polynomiale (McKean et al. 2016)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555555"/>
                </a:solidFill>
              </a:rPr>
              <a:t>• Correction Doppler : décalage vers le référentiel LSR de la source, par observation (spectral_tools/tools.py)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555555"/>
                </a:solidFill>
              </a:rPr>
              <a:t>• Pondération : 1/RMS² par observation, pour le moyennage temporel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555555"/>
                </a:solidFill>
              </a:rPr>
              <a:t>• Moyennage temporel pondéré : combinaison de tous les blocs propres (run_time_average.py)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555555"/>
                </a:solidFill>
              </a:rPr>
              <a:t>• Sortie : spectre alltime FITS unique par source et par raie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463040"/>
            <a:ext cx="5879592" cy="2468880"/>
          </a:xfrm>
          <a:prstGeom prst="rect">
            <a:avLst/>
          </a:prstGeom>
          <a:solidFill>
            <a:srgbClr val="F2F2F2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9048" y="1572768"/>
            <a:ext cx="5660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888888"/>
                </a:solidFill>
              </a:rPr>
              <a:t>[ Figure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8" y="1865376"/>
            <a:ext cx="5660136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</a:rPr>
              <a:t>Spectre brut vs spectre nettoyé — exemple d'une observation
(avant/après nettoyage de la ligne de base)
[générer depuis clean_observation.py ou L1_class.py]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4069080"/>
            <a:ext cx="5879592" cy="2240280"/>
          </a:xfrm>
          <a:prstGeom prst="rect">
            <a:avLst/>
          </a:prstGeom>
          <a:solidFill>
            <a:srgbClr val="F2F2F2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8" y="4178808"/>
            <a:ext cx="5660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888888"/>
                </a:solidFill>
              </a:rPr>
              <a:t>[ Figure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8" y="4471416"/>
            <a:ext cx="5660136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</a:rPr>
              <a:t>Gain en S/B : une observation vs spectre alltime
(comparaison RMS individuel vs RMS moyen pondéré)
[générer depuis run_time_average.py]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D641C"/>
                </a:solidFill>
              </a:rPr>
              <a:t>Étape 3 — Empilement pondéré des transitions CIα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969264"/>
            <a:ext cx="11548872" cy="31750"/>
          </a:xfrm>
          <a:prstGeom prst="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2412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Notebook 3_Stacking.ipynb  ·  Gain S/B par combinaison de ~450 raies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6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55555"/>
                </a:solidFill>
              </a:rPr>
              <a:t>• Les transitions CIα couvrent n ~ 400–850 sur la bande NenuFAR (10–85 MHz)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555555"/>
                </a:solidFill>
              </a:rPr>
              <a:t>• Chaque transition extraite dans une fenêtre en vitesse centrée sur f₀(n)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555555"/>
                </a:solidFill>
              </a:rPr>
              <a:t>• S/B estimé signal / RMS des ailes ; raies contaminées rejetées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555555"/>
                </a:solidFill>
              </a:rPr>
              <a:t>• Empilement à pondération inverse-variance  (poids = 1/RMS²) par intervalle de n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555555"/>
                </a:solidFill>
              </a:rPr>
              <a:t>• Trois gammes de n avec largeurs de bin ajustables : bas-n (grossier), mi-n (fin), haut-n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555555"/>
                </a:solidFill>
              </a:rPr>
              <a:t>• Empilement du pointage OFF utilisé comme référence spectrale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555555"/>
                </a:solidFill>
              </a:rPr>
              <a:t>• Gain S/B vs LOFAR : facteur ~4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1463040"/>
            <a:ext cx="6062472" cy="4846320"/>
          </a:xfrm>
          <a:prstGeom prst="rect">
            <a:avLst/>
          </a:prstGeom>
          <a:solidFill>
            <a:srgbClr val="F2F2F2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16168" y="1572768"/>
            <a:ext cx="5843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888888"/>
                </a:solidFill>
              </a:rPr>
              <a:t>[ Figure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1865376"/>
            <a:ext cx="5843016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</a:rPr>
              <a:t>Mosaïque des spectres empilés — Cas A
(un panneau = un intervalle de n, S/B indiqué)
figures/Stacking/CAS_A-detections.pdf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D641C"/>
                </a:solidFill>
              </a:rPr>
              <a:t>Étape 4 — Ajustement de profils de Voigt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969264"/>
            <a:ext cx="11548872" cy="31750"/>
          </a:xfrm>
          <a:prstGeom prst="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2412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Notebook 4_Line-fitting.ipynb  ·  Extraction des paramètres de raie par intervalle de 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6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55555"/>
                </a:solidFill>
              </a:rPr>
              <a:t>• Voigt = Gaussienne (thermique + turbulente) ⊗ Lorentzienne (élargissement par radiation)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555555"/>
                </a:solidFill>
              </a:rPr>
              <a:t>• Ajustement multi-composantes si plusieurs composantes en vitesse détectées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555555"/>
                </a:solidFill>
              </a:rPr>
              <a:t>• Paramètres : centre [km/s] · FWHM_G [Hz] · FWHM_L [Hz]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555555"/>
                </a:solidFill>
              </a:rPr>
              <a:t>• Aire intégrée [Hz] avec propagation complète des incertitudes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555555"/>
                </a:solidFill>
              </a:rPr>
              <a:t>• Centre ajusté sur tout le domaine de n → vérification de cohérence cinématique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555555"/>
                </a:solidFill>
              </a:rPr>
              <a:t>• Sortie CSV : n, wV, dwV, Ifit, dIfit, CENTER, CENTER_err (par composante)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251960"/>
            <a:ext cx="5029200" cy="2057400"/>
          </a:xfrm>
          <a:prstGeom prst="rect">
            <a:avLst/>
          </a:prstGeom>
          <a:solidFill>
            <a:srgbClr val="F2F2F2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4361688"/>
            <a:ext cx="4809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888888"/>
                </a:solidFill>
              </a:rPr>
              <a:t>[ Figure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4654296"/>
            <a:ext cx="4809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</a:rPr>
              <a:t>Mosaïque avec ajustement Voigt superposé — Cas A vs OFF
figures/Line-fitting/CAS_A-comparison-with-offsets.pdf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1463040"/>
            <a:ext cx="6336792" cy="2468880"/>
          </a:xfrm>
          <a:prstGeom prst="rect">
            <a:avLst/>
          </a:prstGeom>
          <a:solidFill>
            <a:srgbClr val="F2F2F2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41848" y="1572768"/>
            <a:ext cx="6117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888888"/>
                </a:solidFill>
              </a:rPr>
              <a:t>[ Figure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1848" y="1865376"/>
            <a:ext cx="6117336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</a:rPr>
              <a:t>Paramètres ajustés vs nombre quantique n
(centre · FWHM · aire pour chaque composante)
figures/Line-fitting/CAS_A-fit-params.pdf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4069080"/>
            <a:ext cx="6336792" cy="2240280"/>
          </a:xfrm>
          <a:prstGeom prst="rect">
            <a:avLst/>
          </a:prstGeom>
          <a:solidFill>
            <a:srgbClr val="F2F2F2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41848" y="4178808"/>
            <a:ext cx="6117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888888"/>
                </a:solidFill>
              </a:rPr>
              <a:t>[ Figure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41848" y="4471416"/>
            <a:ext cx="6117336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</a:rPr>
              <a:t>Histogramme des centres — distribution des vitesses ajustées
figures/Line-fitting/CAS_A-detections.pdf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D641C"/>
                </a:solidFill>
              </a:rPr>
              <a:t>Le modèle physique CRRL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969264"/>
            <a:ext cx="11548872" cy="31750"/>
          </a:xfrm>
          <a:prstGeom prst="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2412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Élargissement &amp; aire intégrée à partir de la théorie non-LTE  (modeling.py)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6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447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E8A35"/>
                </a:solidFill>
              </a:rPr>
              <a:t>Largeur de raie totale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5486400" cy="19050"/>
          </a:xfrm>
          <a:prstGeom prst="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</a:rPr>
              <a:t>Δf²_tot  =  Δf²_naturelle  +  Δf²_Doppler  +  Δf²_pression  +  Δf²_radiation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30428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55"/>
                </a:solidFill>
              </a:rPr>
              <a:t>• Doppler :  ΔfD = (f₀/c) √(8 ln2 kTe/mC + 8 ln2 vt²)  — thermique + turbulent</a:t>
            </a:r>
          </a:p>
          <a:p>
            <a:pPr algn="l">
              <a:spcBef>
                <a:spcPts val="400"/>
              </a:spcBef>
            </a:pPr>
            <a:r>
              <a:rPr sz="1250" b="0" i="0">
                <a:solidFill>
                  <a:srgbClr val="555555"/>
                </a:solidFill>
              </a:rPr>
              <a:t>• Radiation (Salgado et al. 2017) : dépend fortement de n et de T₀</a:t>
            </a:r>
          </a:p>
          <a:p>
            <a:pPr algn="l">
              <a:spcBef>
                <a:spcPts val="400"/>
              </a:spcBef>
            </a:pPr>
            <a:r>
              <a:rPr sz="1250" b="0" i="0">
                <a:solidFill>
                  <a:srgbClr val="555555"/>
                </a:solidFill>
              </a:rPr>
              <a:t>• Pression : faible régime pour n &lt; 600, négligeable pour n &gt; 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4015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E8A35"/>
                </a:solidFill>
              </a:rPr>
              <a:t>Aire intégrée — non-LTE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739896"/>
            <a:ext cx="5486400" cy="19050"/>
          </a:xfrm>
          <a:prstGeom prst="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785615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</a:rPr>
              <a:t>A(n)  ∝  bₙβₙ · f(Te, ne, T₀, 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22452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55"/>
                </a:solidFill>
              </a:rPr>
              <a:t>• bₙ, βₙ : coefficients de départ non-LTE (pré-calculés, interpolés depuis B1B2.pickle)</a:t>
            </a:r>
          </a:p>
          <a:p>
            <a:pPr algn="l">
              <a:spcBef>
                <a:spcPts val="400"/>
              </a:spcBef>
            </a:pPr>
            <a:r>
              <a:rPr sz="1250" b="0" i="0">
                <a:solidFill>
                  <a:srgbClr val="555555"/>
                </a:solidFill>
              </a:rPr>
              <a:t>• f(Te, ne) : dépendance en température et densité électroniques</a:t>
            </a:r>
          </a:p>
          <a:p>
            <a:pPr algn="l">
              <a:spcBef>
                <a:spcPts val="400"/>
              </a:spcBef>
            </a:pPr>
            <a:r>
              <a:rPr sz="1250" b="0" i="0">
                <a:solidFill>
                  <a:srgbClr val="555555"/>
                </a:solidFill>
              </a:rPr>
              <a:t>• Modèles de grille générés par  pipelines/generate_grid.py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376672"/>
            <a:ext cx="54864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46811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41C"/>
                </a:solidFill>
              </a:rPr>
              <a:t>5 paramètres libres :  Te [K]  ·  ne [cm⁻³]  ·  L [pc]  ·  T₀ [K]  ·  vt [km/s]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1444752"/>
            <a:ext cx="5879592" cy="2331720"/>
          </a:xfrm>
          <a:prstGeom prst="rect">
            <a:avLst/>
          </a:prstGeom>
          <a:solidFill>
            <a:srgbClr val="F2F2F2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8" y="1554480"/>
            <a:ext cx="5660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888888"/>
                </a:solidFill>
              </a:rPr>
              <a:t>[ Figure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1847088"/>
            <a:ext cx="5660136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</a:rPr>
              <a:t>bₙβₙ vs n pour différents (Te, ne)
coefficients de départ non-LTE
[générer depuis spectral_tools/modeling.py + B1B2.pickle]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3886200"/>
            <a:ext cx="5879592" cy="2423160"/>
          </a:xfrm>
          <a:prstGeom prst="rect">
            <a:avLst/>
          </a:prstGeom>
          <a:solidFill>
            <a:srgbClr val="F2F2F2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8" y="3995928"/>
            <a:ext cx="5660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888888"/>
                </a:solidFill>
              </a:rPr>
              <a:t>[ Figure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8" y="4288536"/>
            <a:ext cx="5660136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</a:rPr>
              <a:t>Contributions à la largeur de raie vs n
Doppler vs radiation vs total
pour (Te, ne, T₀) typiques du CNM
[générer depuis modeling.py — fonctions fwhm_*]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D641C"/>
                </a:solidFill>
              </a:rPr>
              <a:t>Étape 5 — Exploration par grille χ²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969264"/>
            <a:ext cx="11548872" cy="31750"/>
          </a:xfrm>
          <a:prstGeom prst="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2412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Notebook 5_Grid-exploration.ipynb  ·  Contraindre Te, ne, L, T₀, vt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6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55555"/>
                </a:solidFill>
              </a:rPr>
              <a:t>• Grille 5D : Te × ne × L × T₀ × vt  (générée par generate_grid.py)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555555"/>
                </a:solidFill>
              </a:rPr>
              <a:t>• χ² = Σₙ [ (Δf_obs − Δf_mod)² / σ²_Δf  +  (A_obs − A_mod)² / σ²_A ]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555555"/>
                </a:solidFill>
              </a:rPr>
              <a:t>• Marginalisation sur les paramètres de nuisance via projection du min χ²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555555"/>
                </a:solidFill>
              </a:rPr>
              <a:t>• Régions de confiance relatives : +5%, +15%, +30% au-dessus de χ²_min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555555"/>
                </a:solidFill>
              </a:rPr>
              <a:t>• Masque géométrique dans le plan (Te, L) pour imposer des priors physiques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555555"/>
                </a:solidFill>
              </a:rPr>
              <a:t>• Histogrammes marginaux dans l'ensemble solution retenu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5257800"/>
            <a:ext cx="512064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3E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349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8A35"/>
                </a:solidFill>
              </a:rPr>
              <a:t>Résultat : meilleure solution (Te, ne, L, T₀, vt) + intervalles de confiance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1463040"/>
            <a:ext cx="6245352" cy="2377440"/>
          </a:xfrm>
          <a:prstGeom prst="rect">
            <a:avLst/>
          </a:prstGeom>
          <a:solidFill>
            <a:srgbClr val="F2F2F2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33288" y="1572768"/>
            <a:ext cx="6025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888888"/>
                </a:solidFill>
              </a:rPr>
              <a:t>[ Figure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33288" y="1865376"/>
            <a:ext cx="6025896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</a:rPr>
              <a:t>Carte de chaleur Te–L
(marginalisée sur ne, T₀, vt)
figures/Grid-exploration/CAS_A_te_l.pdf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3931920"/>
            <a:ext cx="6245352" cy="2377440"/>
          </a:xfrm>
          <a:prstGeom prst="rect">
            <a:avLst/>
          </a:prstGeom>
          <a:solidFill>
            <a:srgbClr val="F2F2F2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33288" y="4041648"/>
            <a:ext cx="6025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888888"/>
                </a:solidFill>
              </a:rPr>
              <a:t>[ Figure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3288" y="4334256"/>
            <a:ext cx="6025896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</a:rPr>
              <a:t>Plan Te–ne avec contours colorés par L
figures/Grid-exploration/CAS_A_te_ne_l.pdf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5257800"/>
            <a:ext cx="2468880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5367528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888888"/>
                </a:solidFill>
              </a:rPr>
              <a:t>[ Figure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660136"/>
            <a:ext cx="22494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</a:rPr>
              <a:t>Histogrammes marginaux (Te, ne, L, T₀, vt)
figures/Grid-exploration/CAS_A_solutions_hist.pdf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5257800"/>
            <a:ext cx="2468880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81528" y="5367528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888888"/>
                </a:solidFill>
              </a:rPr>
              <a:t>[ Figure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1528" y="5660136"/>
            <a:ext cx="22494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</a:rPr>
              <a:t>Modèle vs observé — FWHM vs n
figures/Grid-exploration/CAS_A_obs-vs-model.pdf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D641C"/>
                </a:solidFill>
              </a:rPr>
              <a:t>Résultats — conditions physiques du MIS diffus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969264"/>
            <a:ext cx="11548872" cy="31750"/>
          </a:xfrm>
          <a:prstGeom prst="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2412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Sources : Cassiopée A · Taurus A · Cygnus 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6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463040"/>
          <a:ext cx="713231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902"/>
                <a:gridCol w="1018902"/>
                <a:gridCol w="1018902"/>
                <a:gridCol w="1018902"/>
                <a:gridCol w="1018902"/>
                <a:gridCol w="1018902"/>
                <a:gridCol w="1018902"/>
              </a:tblGrid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Paramètre</a:t>
                      </a:r>
                    </a:p>
                  </a:txBody>
                  <a:tcPr>
                    <a:solidFill>
                      <a:srgbClr val="2D64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Signification</a:t>
                      </a:r>
                    </a:p>
                  </a:txBody>
                  <a:tcPr>
                    <a:solidFill>
                      <a:srgbClr val="2D64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Cas A  (−47 km/s)</a:t>
                      </a:r>
                    </a:p>
                  </a:txBody>
                  <a:tcPr>
                    <a:solidFill>
                      <a:srgbClr val="2D64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Cas A  (−38 km/s)</a:t>
                      </a:r>
                    </a:p>
                  </a:txBody>
                  <a:tcPr>
                    <a:solidFill>
                      <a:srgbClr val="2D64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Cas A  (0 km/s)</a:t>
                      </a:r>
                    </a:p>
                  </a:txBody>
                  <a:tcPr>
                    <a:solidFill>
                      <a:srgbClr val="2D64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Tau A</a:t>
                      </a:r>
                    </a:p>
                  </a:txBody>
                  <a:tcPr>
                    <a:solidFill>
                      <a:srgbClr val="2D64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Cyg A</a:t>
                      </a:r>
                    </a:p>
                  </a:txBody>
                  <a:tcPr>
                    <a:solidFill>
                      <a:srgbClr val="2D641C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55555"/>
                          </a:solidFill>
                        </a:rPr>
                        <a:t>Te  (K)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T° électronique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55555"/>
                          </a:solidFill>
                        </a:rPr>
                        <a:t>ne  (cm⁻³)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Densité électronique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55555"/>
                          </a:solidFill>
                        </a:rPr>
                        <a:t>L   (pc)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Taille du nuage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55555"/>
                          </a:solidFill>
                        </a:rPr>
                        <a:t>T₀  (K)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T° de radiation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55555"/>
                          </a:solidFill>
                        </a:rPr>
                        <a:t>vt  (km/s)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Vitesse turbulente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55555"/>
                          </a:solidFill>
                        </a:rPr>
                        <a:t>vlsr (km/s)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Vitesse centroïde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−47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−38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</a:rPr>
                        <a:t>+3,5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45720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* Compléter avec les meilleures valeurs issues du notebook 5_Grid-exploration.ipynb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5240" y="1463040"/>
            <a:ext cx="4233672" cy="3474720"/>
          </a:xfrm>
          <a:prstGeom prst="rect">
            <a:avLst/>
          </a:prstGeom>
          <a:solidFill>
            <a:srgbClr val="F2F2F2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44968" y="1572768"/>
            <a:ext cx="4014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888888"/>
                </a:solidFill>
              </a:rPr>
              <a:t>[ Figure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4968" y="1865376"/>
            <a:ext cx="4014216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</a:rPr>
              <a:t>Comparaison multi-sources des paramètres physiques
(diagramme en barres ou corner plot)
[compiler depuis les CSV de résultats fitted_lines_*.csv
et les sorties de Grid-exploration]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983480"/>
            <a:ext cx="11548872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074920"/>
            <a:ext cx="112745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9 composantes identifiées sur 3 sources dont 4 purement atomiques (sans CO)
— illustre la complémentarité des CRRLs vis-à-vis des traceurs moléculaires classiques.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D641C"/>
                </a:solidFill>
              </a:rPr>
              <a:t>Limitations de la méthode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969264"/>
            <a:ext cx="11548872" cy="31750"/>
          </a:xfrm>
          <a:prstGeom prst="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2412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Ce que le pipeline ne résout pas encore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6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64008" cy="1170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44752"/>
            <a:ext cx="11484864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11301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</a:rPr>
              <a:t>1.  Dégénérescence L – T₀ résiduelle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01952"/>
            <a:ext cx="113019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Les traceurs complémentaires lèvent partiellement la dégénérescence mais ne l'éliminent pas totalement. Un a priori plus contraignant sur L resterait souhaitable — par exemple via les transitions Cnβ, Cnγ, ou la carte galactique à 45 MHz (Guzman 2011).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724912"/>
            <a:ext cx="64008" cy="11704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2724912"/>
            <a:ext cx="11484864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16352"/>
            <a:ext cx="11301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</a:rPr>
              <a:t>2.  Masquage manuel des raies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82112"/>
            <a:ext cx="113019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La correction sous-bande par sous-bande requiert une connaissance a priori des vitesses d'intérêt, nécessitant une intervention humaine dans la chaîne actuelle. L'automatisation de cette étape est en cours de développement.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005072"/>
            <a:ext cx="64008" cy="1170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4005072"/>
            <a:ext cx="11484864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96512"/>
            <a:ext cx="11301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</a:rPr>
              <a:t>3.  Effet de faisceau (beam dilution)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62272"/>
            <a:ext cx="113019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Le grand faisceau de NenuFAR (jusqu'à 3,59° à 10 MHz) moyenne les observables sur des volumes potentiellement hétérogènes, pouvant modifier l'intensité apparente des raies et la vitesse turbulente déduite.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285232"/>
            <a:ext cx="64008" cy="1170432"/>
          </a:xfrm>
          <a:prstGeom prst="rect">
            <a:avLst/>
          </a:prstGeom>
          <a:solidFill>
            <a:srgbClr val="7D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5285232"/>
            <a:ext cx="11484864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376672"/>
            <a:ext cx="11301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</a:rPr>
              <a:t>4.  Portée des cartes de poussière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42432"/>
            <a:ext cx="113019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Les cartes Edenhofer et al. 2024 sont limitées à 1,25 kpc du Soleil. Au-delà de cette limite, l'identification des nuages repose uniquement sur la cinématique galactique (CO, HI, modèle Reid 2019), moins robuste géométriquement.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D641C"/>
                </a:solidFill>
              </a:rPr>
              <a:t>Perspectives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969264"/>
            <a:ext cx="11548872" cy="31750"/>
          </a:xfrm>
          <a:prstGeom prst="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2412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Développements à court et moyen terme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6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5682996" cy="38100"/>
          </a:xfrm>
          <a:prstGeom prst="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17904"/>
            <a:ext cx="56829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8A35"/>
                </a:solidFill>
              </a:rPr>
              <a:t>Extension à d'autres sources et lignes de visée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20240"/>
            <a:ext cx="5682996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Appliquer le pipeline aux 4 pointages vers Taurus A (série S2) permettant de spatialiser les composantes. Étendre au programme LT10 complet de NenuFAR.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1444752"/>
            <a:ext cx="5682996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5916" y="1517904"/>
            <a:ext cx="56829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80B9"/>
                </a:solidFill>
              </a:rPr>
              <a:t>Automatisation complète de Cloud-id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5916" y="1920240"/>
            <a:ext cx="5682996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Rendre le masquage des raies et la sélection des composantes entièrement automatiques pour un traitement en pipeline. Objectif : application systématique à de larges catalogues de sources.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456431"/>
            <a:ext cx="5682996" cy="38100"/>
          </a:xfrm>
          <a:prstGeom prst="rect">
            <a:avLst/>
          </a:prstGeom>
          <a:solidFill>
            <a:srgbClr val="7D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3"/>
            <a:ext cx="56829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D6B28"/>
                </a:solidFill>
              </a:rPr>
              <a:t>Lever les dégénérescences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931919"/>
            <a:ext cx="5682996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Observer les transitions Cnβ, Cnγ, Cnδ pour contraindre séparément T₀ et L. Utiliser la carte galactique à 45 MHz (Guzman 2011) comme a priori sur T₀.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3456431"/>
            <a:ext cx="5682996" cy="381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3529583"/>
            <a:ext cx="56829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</a:rPr>
              <a:t>Cartographie galactique &amp; préparation SKA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5916" y="3931919"/>
            <a:ext cx="5682996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Construire une carte de (ne, Te) dans le plan galactique en combinant les détections NenuFAR. Adapter les méthodes aux futurs relevés SKA du MIS diffus.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541262"/>
            <a:ext cx="11548872" cy="1554480"/>
          </a:xfrm>
          <a:prstGeom prst="rect">
            <a:avLst/>
          </a:prstGeom>
          <a:solidFill>
            <a:srgbClr val="F5F9F4"/>
          </a:solidFill>
          <a:ln w="19050">
            <a:solidFill>
              <a:srgbClr val="3E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65099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1.  Trois traceurs complémentaires (Poussière Gaia DR3 · ¹²CO CfA · HI4PI) croisés par Cloud-id.ipynb pour identifier les nuages le long de chaque ligne de visée.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555555"/>
                </a:solidFill>
              </a:rPr>
              <a:t>2.  Pipeline de bout en bout : observation NenuFAR brute → Te, ne, L, T₀, vt  avec propagation complète des incertitudes.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555555"/>
                </a:solidFill>
              </a:rPr>
              <a:t>3.  Cloud-id.ipynb rend la procédure d'identification reproductible, transparente et extensible à de nouvelles lignes de visée — condition nécessaire à une étude systématique du MIS diffus avec NenuFAR.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