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4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5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88825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B72B90-25BE-4F8A-B27F-D54CE2CC37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17ADA9-BF6D-44AD-BDEC-2CFECF7CE8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3960A6-B119-4550-B85B-E8F1D78CE1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C873F0-ED26-4B48-9F95-BB9EA6EF33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B53B24-6B74-46B3-BBDE-4934F3D0F0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500F95-699F-4611-8BDE-5DB3A18B66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FCA209-C9AF-4885-B45E-EFC96D9F16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5FDACC-682D-4FDB-A78F-A81B03A93A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DBFDEC-4C7B-4F21-B14E-F182A7C46B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3AD6E1-CF56-424D-B977-2B4FAC1341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252110-B6C5-4195-A963-2293DD482A6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18CAF4-7003-4D07-AC5F-DC413D1A714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&lt;date/heure&gt;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&lt;pied de page&gt;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97FDA9-4577-4DE9-8F4E-FC284057223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&lt;numéro&gt;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Cliquez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pour éditer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le format du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texte-titre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347400" y="502920"/>
            <a:ext cx="11493720" cy="11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3400" spc="-1" strike="noStrike">
                <a:solidFill>
                  <a:srgbClr val="2d641c"/>
                </a:solidFill>
                <a:latin typeface="Calibri"/>
              </a:rPr>
              <a:t>Analysis of Carbon Radio Recombination Lines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2d641c"/>
                </a:solidFill>
                <a:latin typeface="Calibri"/>
              </a:rPr>
              <a:t>with NenuFAR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347400" y="2148840"/>
            <a:ext cx="11493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600" spc="-1" strike="noStrike">
                <a:solidFill>
                  <a:srgbClr val="c8640a"/>
                </a:solidFill>
                <a:latin typeface="Calibri"/>
              </a:rPr>
              <a:t>Methodology: From Raw Spectra to Physical ISM Parameters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3" name="Rectangle 3"/>
          <p:cNvSpPr/>
          <p:nvPr/>
        </p:nvSpPr>
        <p:spPr>
          <a:xfrm>
            <a:off x="347400" y="2926080"/>
            <a:ext cx="11493720" cy="12240"/>
          </a:xfrm>
          <a:prstGeom prst="rect">
            <a:avLst/>
          </a:prstGeom>
          <a:solidFill>
            <a:srgbClr val="bbbb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" name="TextBox 4"/>
          <p:cNvSpPr/>
          <p:nvPr/>
        </p:nvSpPr>
        <p:spPr>
          <a:xfrm>
            <a:off x="347400" y="3090600"/>
            <a:ext cx="5486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1a1a1a"/>
                </a:solidFill>
                <a:latin typeface="Calibri"/>
              </a:rPr>
              <a:t>Lucie Cros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347400" y="356616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NenuFAR LT10  ·  Low-frequency CRRLs (10 – 85 MHz)  ·  Diffuse interstellar medium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6" name="Rectangle 6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TextBox 7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1"/>
          <p:cNvSpPr/>
          <p:nvPr/>
        </p:nvSpPr>
        <p:spPr>
          <a:xfrm>
            <a:off x="347400" y="164520"/>
            <a:ext cx="1149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The matter cycle in the interstellar medium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49" name="Rectangle 2"/>
          <p:cNvSpPr/>
          <p:nvPr/>
        </p:nvSpPr>
        <p:spPr>
          <a:xfrm>
            <a:off x="347400" y="969120"/>
            <a:ext cx="1149372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TextBox 3"/>
          <p:cNvSpPr/>
          <p:nvPr/>
        </p:nvSpPr>
        <p:spPr>
          <a:xfrm>
            <a:off x="347400" y="102420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Context: why study the ISM?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1" name="Rectangle 4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TextBox 5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3" name="Rectangle 6"/>
          <p:cNvSpPr/>
          <p:nvPr/>
        </p:nvSpPr>
        <p:spPr>
          <a:xfrm>
            <a:off x="1679400" y="1444680"/>
            <a:ext cx="8568000" cy="4772880"/>
          </a:xfrm>
          <a:prstGeom prst="rect">
            <a:avLst/>
          </a:prstGeom>
          <a:solidFill>
            <a:srgbClr val="f2f2f2"/>
          </a:solidFill>
          <a:ln>
            <a:solidFill>
              <a:srgbClr val="aaaa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TextBox 7"/>
          <p:cNvSpPr/>
          <p:nvPr/>
        </p:nvSpPr>
        <p:spPr>
          <a:xfrm>
            <a:off x="457200" y="1554480"/>
            <a:ext cx="112741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000" spc="-1" strike="noStrike">
                <a:solidFill>
                  <a:srgbClr val="888888"/>
                </a:solidFill>
                <a:latin typeface="Calibri"/>
              </a:rPr>
              <a:t>[ Figure ]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5" name="TextBox 9"/>
          <p:cNvSpPr/>
          <p:nvPr/>
        </p:nvSpPr>
        <p:spPr>
          <a:xfrm>
            <a:off x="347400" y="6291000"/>
            <a:ext cx="11493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555555"/>
                </a:solidFill>
                <a:latin typeface="Calibri"/>
              </a:rPr>
              <a:t>figure by A. Gusdorf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1679400" y="1384560"/>
            <a:ext cx="8568000" cy="483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347400" y="164520"/>
            <a:ext cx="1149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The diffuse interstellar medium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58" name="Rectangle 2"/>
          <p:cNvSpPr/>
          <p:nvPr/>
        </p:nvSpPr>
        <p:spPr>
          <a:xfrm>
            <a:off x="347400" y="969120"/>
            <a:ext cx="1149372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TextBox 3"/>
          <p:cNvSpPr/>
          <p:nvPr/>
        </p:nvSpPr>
        <p:spPr>
          <a:xfrm>
            <a:off x="347400" y="102420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Context: why study the coldest ISM phases?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0" name="Rectangle 4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TextBox 5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2" name="TextBox 6"/>
          <p:cNvSpPr/>
          <p:nvPr/>
        </p:nvSpPr>
        <p:spPr>
          <a:xfrm>
            <a:off x="347400" y="1444680"/>
            <a:ext cx="55638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e8a35"/>
                </a:solidFill>
                <a:latin typeface="Calibri"/>
              </a:rPr>
              <a:t>ISM phases — T–ρ diagram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3" name="Rectangle 7"/>
          <p:cNvSpPr/>
          <p:nvPr/>
        </p:nvSpPr>
        <p:spPr>
          <a:xfrm>
            <a:off x="347400" y="1783080"/>
            <a:ext cx="5563800" cy="187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Rectangle 8"/>
          <p:cNvSpPr/>
          <p:nvPr/>
        </p:nvSpPr>
        <p:spPr>
          <a:xfrm>
            <a:off x="685800" y="1886400"/>
            <a:ext cx="4800600" cy="2685600"/>
          </a:xfrm>
          <a:prstGeom prst="rect">
            <a:avLst/>
          </a:prstGeom>
          <a:solidFill>
            <a:srgbClr val="f2f2f2"/>
          </a:solidFill>
          <a:ln>
            <a:solidFill>
              <a:srgbClr val="aaaa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" name="TextBox 9"/>
          <p:cNvSpPr/>
          <p:nvPr/>
        </p:nvSpPr>
        <p:spPr>
          <a:xfrm>
            <a:off x="457200" y="1956960"/>
            <a:ext cx="5344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000" spc="-1" strike="noStrike">
                <a:solidFill>
                  <a:srgbClr val="888888"/>
                </a:solidFill>
                <a:latin typeface="Calibri"/>
              </a:rPr>
              <a:t>[ Figure ]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6" name="TextBox 11"/>
          <p:cNvSpPr/>
          <p:nvPr/>
        </p:nvSpPr>
        <p:spPr>
          <a:xfrm>
            <a:off x="347400" y="4773240"/>
            <a:ext cx="55638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d641c"/>
                </a:solidFill>
                <a:latin typeface="Calibri"/>
              </a:rPr>
              <a:t>What drives phase transitions?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1" lang="en-US" sz="1300" spc="-1" strike="noStrike">
                <a:solidFill>
                  <a:srgbClr val="2d641c"/>
                </a:solidFill>
                <a:latin typeface="Calibri"/>
              </a:rPr>
              <a:t>How do temperature and density evolve exactly?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7" name="Rectangle 12"/>
          <p:cNvSpPr/>
          <p:nvPr/>
        </p:nvSpPr>
        <p:spPr>
          <a:xfrm>
            <a:off x="6003000" y="14173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" name="Rectangle 13"/>
          <p:cNvSpPr/>
          <p:nvPr/>
        </p:nvSpPr>
        <p:spPr>
          <a:xfrm>
            <a:off x="6003000" y="15177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Rectangle 14"/>
          <p:cNvSpPr/>
          <p:nvPr/>
        </p:nvSpPr>
        <p:spPr>
          <a:xfrm>
            <a:off x="6003000" y="16185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Rectangle 15"/>
          <p:cNvSpPr/>
          <p:nvPr/>
        </p:nvSpPr>
        <p:spPr>
          <a:xfrm>
            <a:off x="6003000" y="17190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Rectangle 16"/>
          <p:cNvSpPr/>
          <p:nvPr/>
        </p:nvSpPr>
        <p:spPr>
          <a:xfrm>
            <a:off x="6003000" y="18198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Rectangle 17"/>
          <p:cNvSpPr/>
          <p:nvPr/>
        </p:nvSpPr>
        <p:spPr>
          <a:xfrm>
            <a:off x="6003000" y="19202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Rectangle 18"/>
          <p:cNvSpPr/>
          <p:nvPr/>
        </p:nvSpPr>
        <p:spPr>
          <a:xfrm>
            <a:off x="6003000" y="20206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Rectangle 19"/>
          <p:cNvSpPr/>
          <p:nvPr/>
        </p:nvSpPr>
        <p:spPr>
          <a:xfrm>
            <a:off x="6003000" y="21214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Rectangle 20"/>
          <p:cNvSpPr/>
          <p:nvPr/>
        </p:nvSpPr>
        <p:spPr>
          <a:xfrm>
            <a:off x="6003000" y="22219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Rectangle 21"/>
          <p:cNvSpPr/>
          <p:nvPr/>
        </p:nvSpPr>
        <p:spPr>
          <a:xfrm>
            <a:off x="6003000" y="23227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Rectangle 22"/>
          <p:cNvSpPr/>
          <p:nvPr/>
        </p:nvSpPr>
        <p:spPr>
          <a:xfrm>
            <a:off x="6003000" y="24231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Rectangle 23"/>
          <p:cNvSpPr/>
          <p:nvPr/>
        </p:nvSpPr>
        <p:spPr>
          <a:xfrm>
            <a:off x="6003000" y="25236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Rectangle 24"/>
          <p:cNvSpPr/>
          <p:nvPr/>
        </p:nvSpPr>
        <p:spPr>
          <a:xfrm>
            <a:off x="6003000" y="26244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0" name="Rectangle 25"/>
          <p:cNvSpPr/>
          <p:nvPr/>
        </p:nvSpPr>
        <p:spPr>
          <a:xfrm>
            <a:off x="6003000" y="27248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Rectangle 26"/>
          <p:cNvSpPr/>
          <p:nvPr/>
        </p:nvSpPr>
        <p:spPr>
          <a:xfrm>
            <a:off x="6003000" y="28256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Rectangle 27"/>
          <p:cNvSpPr/>
          <p:nvPr/>
        </p:nvSpPr>
        <p:spPr>
          <a:xfrm>
            <a:off x="6003000" y="29260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Rectangle 28"/>
          <p:cNvSpPr/>
          <p:nvPr/>
        </p:nvSpPr>
        <p:spPr>
          <a:xfrm>
            <a:off x="6003000" y="30265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Rectangle 29"/>
          <p:cNvSpPr/>
          <p:nvPr/>
        </p:nvSpPr>
        <p:spPr>
          <a:xfrm>
            <a:off x="6003000" y="31273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Rectangle 30"/>
          <p:cNvSpPr/>
          <p:nvPr/>
        </p:nvSpPr>
        <p:spPr>
          <a:xfrm>
            <a:off x="6003000" y="32277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Rectangle 31"/>
          <p:cNvSpPr/>
          <p:nvPr/>
        </p:nvSpPr>
        <p:spPr>
          <a:xfrm>
            <a:off x="6003000" y="33285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7" name="Rectangle 32"/>
          <p:cNvSpPr/>
          <p:nvPr/>
        </p:nvSpPr>
        <p:spPr>
          <a:xfrm>
            <a:off x="6003000" y="34290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Rectangle 33"/>
          <p:cNvSpPr/>
          <p:nvPr/>
        </p:nvSpPr>
        <p:spPr>
          <a:xfrm>
            <a:off x="6003000" y="35294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9" name="Rectangle 34"/>
          <p:cNvSpPr/>
          <p:nvPr/>
        </p:nvSpPr>
        <p:spPr>
          <a:xfrm>
            <a:off x="6003000" y="36302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Rectangle 35"/>
          <p:cNvSpPr/>
          <p:nvPr/>
        </p:nvSpPr>
        <p:spPr>
          <a:xfrm>
            <a:off x="6003000" y="37306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Rectangle 36"/>
          <p:cNvSpPr/>
          <p:nvPr/>
        </p:nvSpPr>
        <p:spPr>
          <a:xfrm>
            <a:off x="6003000" y="38314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Rectangle 37"/>
          <p:cNvSpPr/>
          <p:nvPr/>
        </p:nvSpPr>
        <p:spPr>
          <a:xfrm>
            <a:off x="6003000" y="39319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Rectangle 38"/>
          <p:cNvSpPr/>
          <p:nvPr/>
        </p:nvSpPr>
        <p:spPr>
          <a:xfrm>
            <a:off x="6003000" y="40323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Rectangle 39"/>
          <p:cNvSpPr/>
          <p:nvPr/>
        </p:nvSpPr>
        <p:spPr>
          <a:xfrm>
            <a:off x="6003000" y="41331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5" name="Rectangle 40"/>
          <p:cNvSpPr/>
          <p:nvPr/>
        </p:nvSpPr>
        <p:spPr>
          <a:xfrm>
            <a:off x="6003000" y="42336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Rectangle 41"/>
          <p:cNvSpPr/>
          <p:nvPr/>
        </p:nvSpPr>
        <p:spPr>
          <a:xfrm>
            <a:off x="6003000" y="43344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Rectangle 42"/>
          <p:cNvSpPr/>
          <p:nvPr/>
        </p:nvSpPr>
        <p:spPr>
          <a:xfrm>
            <a:off x="6003000" y="44348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Rectangle 43"/>
          <p:cNvSpPr/>
          <p:nvPr/>
        </p:nvSpPr>
        <p:spPr>
          <a:xfrm>
            <a:off x="6003000" y="45352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Rectangle 44"/>
          <p:cNvSpPr/>
          <p:nvPr/>
        </p:nvSpPr>
        <p:spPr>
          <a:xfrm>
            <a:off x="6003000" y="46360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Rectangle 45"/>
          <p:cNvSpPr/>
          <p:nvPr/>
        </p:nvSpPr>
        <p:spPr>
          <a:xfrm>
            <a:off x="6003000" y="47365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1" name="Rectangle 46"/>
          <p:cNvSpPr/>
          <p:nvPr/>
        </p:nvSpPr>
        <p:spPr>
          <a:xfrm>
            <a:off x="6003000" y="48373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2" name="Rectangle 47"/>
          <p:cNvSpPr/>
          <p:nvPr/>
        </p:nvSpPr>
        <p:spPr>
          <a:xfrm>
            <a:off x="6003000" y="49377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Rectangle 48"/>
          <p:cNvSpPr/>
          <p:nvPr/>
        </p:nvSpPr>
        <p:spPr>
          <a:xfrm>
            <a:off x="6003000" y="50382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Rectangle 49"/>
          <p:cNvSpPr/>
          <p:nvPr/>
        </p:nvSpPr>
        <p:spPr>
          <a:xfrm>
            <a:off x="6003000" y="51390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5" name="Rectangle 50"/>
          <p:cNvSpPr/>
          <p:nvPr/>
        </p:nvSpPr>
        <p:spPr>
          <a:xfrm>
            <a:off x="6003000" y="52394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Rectangle 51"/>
          <p:cNvSpPr/>
          <p:nvPr/>
        </p:nvSpPr>
        <p:spPr>
          <a:xfrm>
            <a:off x="6003000" y="53402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Rectangle 52"/>
          <p:cNvSpPr/>
          <p:nvPr/>
        </p:nvSpPr>
        <p:spPr>
          <a:xfrm>
            <a:off x="6003000" y="54406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Rectangle 53"/>
          <p:cNvSpPr/>
          <p:nvPr/>
        </p:nvSpPr>
        <p:spPr>
          <a:xfrm>
            <a:off x="6003000" y="55411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Rectangle 54"/>
          <p:cNvSpPr/>
          <p:nvPr/>
        </p:nvSpPr>
        <p:spPr>
          <a:xfrm>
            <a:off x="6003000" y="56419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Rectangle 55"/>
          <p:cNvSpPr/>
          <p:nvPr/>
        </p:nvSpPr>
        <p:spPr>
          <a:xfrm>
            <a:off x="6003000" y="57423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1" name="Rectangle 56"/>
          <p:cNvSpPr/>
          <p:nvPr/>
        </p:nvSpPr>
        <p:spPr>
          <a:xfrm>
            <a:off x="6003000" y="58431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Rectangle 57"/>
          <p:cNvSpPr/>
          <p:nvPr/>
        </p:nvSpPr>
        <p:spPr>
          <a:xfrm>
            <a:off x="6003000" y="59436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Rectangle 58"/>
          <p:cNvSpPr/>
          <p:nvPr/>
        </p:nvSpPr>
        <p:spPr>
          <a:xfrm>
            <a:off x="6003000" y="60440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4" name="Rectangle 59"/>
          <p:cNvSpPr/>
          <p:nvPr/>
        </p:nvSpPr>
        <p:spPr>
          <a:xfrm>
            <a:off x="6003000" y="61448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TextBox 60"/>
          <p:cNvSpPr/>
          <p:nvPr/>
        </p:nvSpPr>
        <p:spPr>
          <a:xfrm>
            <a:off x="6140160" y="1444680"/>
            <a:ext cx="57009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e8a35"/>
                </a:solidFill>
                <a:latin typeface="Calibri"/>
              </a:rPr>
              <a:t>Example: photodissociation region (PDR)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6" name="Rectangle 61"/>
          <p:cNvSpPr/>
          <p:nvPr/>
        </p:nvSpPr>
        <p:spPr>
          <a:xfrm>
            <a:off x="6140160" y="1783080"/>
            <a:ext cx="5700960" cy="187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Rectangle 62"/>
          <p:cNvSpPr/>
          <p:nvPr/>
        </p:nvSpPr>
        <p:spPr>
          <a:xfrm>
            <a:off x="6858000" y="1847160"/>
            <a:ext cx="3886200" cy="2953440"/>
          </a:xfrm>
          <a:prstGeom prst="rect">
            <a:avLst/>
          </a:prstGeom>
          <a:solidFill>
            <a:srgbClr val="f2f2f2"/>
          </a:solidFill>
          <a:ln>
            <a:solidFill>
              <a:srgbClr val="aaaa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8" name="TextBox 65"/>
          <p:cNvSpPr/>
          <p:nvPr/>
        </p:nvSpPr>
        <p:spPr>
          <a:xfrm>
            <a:off x="6140160" y="5217120"/>
            <a:ext cx="57009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E₀(C) = −11.2 eV  &lt;  E₀(H) = −13.6 eV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9" name="TextBox 66"/>
          <p:cNvSpPr/>
          <p:nvPr/>
        </p:nvSpPr>
        <p:spPr>
          <a:xfrm>
            <a:off x="6140160" y="5628600"/>
            <a:ext cx="5700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⟹ 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Carbon is ionised where hydrogen is neutral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→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but where exactly? (HI? molecular? diffuse? dense?)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685800" y="1886400"/>
            <a:ext cx="4761000" cy="2685600"/>
          </a:xfrm>
          <a:prstGeom prst="rect">
            <a:avLst/>
          </a:prstGeom>
          <a:ln w="0">
            <a:noFill/>
          </a:ln>
        </p:spPr>
      </p:pic>
      <p:pic>
        <p:nvPicPr>
          <p:cNvPr id="121" name="" descr=""/>
          <p:cNvPicPr/>
          <p:nvPr/>
        </p:nvPicPr>
        <p:blipFill>
          <a:blip r:embed="rId2"/>
          <a:stretch/>
        </p:blipFill>
        <p:spPr>
          <a:xfrm>
            <a:off x="7086600" y="1991160"/>
            <a:ext cx="3510720" cy="274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/>
          <p:nvPr/>
        </p:nvSpPr>
        <p:spPr>
          <a:xfrm>
            <a:off x="347400" y="164520"/>
            <a:ext cx="1149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CRRLs at low frequencies — physical parameters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23" name="Rectangle 2"/>
          <p:cNvSpPr/>
          <p:nvPr/>
        </p:nvSpPr>
        <p:spPr>
          <a:xfrm>
            <a:off x="347400" y="969120"/>
            <a:ext cx="1149372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TextBox 3"/>
          <p:cNvSpPr/>
          <p:nvPr/>
        </p:nvSpPr>
        <p:spPr>
          <a:xfrm>
            <a:off x="347400" y="102420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What carbon recombination lines tell us about the local ISM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5" name="Rectangle 4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6" name="TextBox 5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7" name="TextBox 6"/>
          <p:cNvSpPr/>
          <p:nvPr/>
        </p:nvSpPr>
        <p:spPr>
          <a:xfrm>
            <a:off x="347400" y="1444680"/>
            <a:ext cx="55044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e8a35"/>
                </a:solidFill>
                <a:latin typeface="Calibri"/>
              </a:rPr>
              <a:t>Excitation regimes — Tx/Tbg vs 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8" name="Rectangle 7"/>
          <p:cNvSpPr/>
          <p:nvPr/>
        </p:nvSpPr>
        <p:spPr>
          <a:xfrm>
            <a:off x="347400" y="1783080"/>
            <a:ext cx="5504400" cy="187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Rectangle 8"/>
          <p:cNvSpPr/>
          <p:nvPr/>
        </p:nvSpPr>
        <p:spPr>
          <a:xfrm>
            <a:off x="1143000" y="1847160"/>
            <a:ext cx="3886200" cy="3017160"/>
          </a:xfrm>
          <a:prstGeom prst="rect">
            <a:avLst/>
          </a:prstGeom>
          <a:solidFill>
            <a:srgbClr val="f2f2f2"/>
          </a:solidFill>
          <a:ln>
            <a:solidFill>
              <a:srgbClr val="aaaa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TextBox 11"/>
          <p:cNvSpPr/>
          <p:nvPr/>
        </p:nvSpPr>
        <p:spPr>
          <a:xfrm>
            <a:off x="347400" y="4983480"/>
            <a:ext cx="55044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Cnα,  n ∈ [400, 850]  →  ~450 lines within 70 MHz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1" name="Rectangle 12"/>
          <p:cNvSpPr/>
          <p:nvPr/>
        </p:nvSpPr>
        <p:spPr>
          <a:xfrm>
            <a:off x="347400" y="5440680"/>
            <a:ext cx="5504400" cy="804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TextBox 13"/>
          <p:cNvSpPr/>
          <p:nvPr/>
        </p:nvSpPr>
        <p:spPr>
          <a:xfrm>
            <a:off x="484560" y="5532120"/>
            <a:ext cx="5230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200" spc="-1" strike="noStrike">
                <a:solidFill>
                  <a:srgbClr val="c0392b"/>
                </a:solidFill>
                <a:latin typeface="Calibri"/>
              </a:rPr>
              <a:t>Lines in absorption against the radio continuum source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c0392b"/>
                </a:solidFill>
                <a:latin typeface="Calibri"/>
              </a:rPr>
              <a:t>⟹  </a:t>
            </a:r>
            <a:r>
              <a:rPr b="1" lang="en-US" sz="1200" spc="-1" strike="noStrike">
                <a:solidFill>
                  <a:srgbClr val="c0392b"/>
                </a:solidFill>
                <a:latin typeface="Calibri"/>
              </a:rPr>
              <a:t>physico-chemical constraints on the local ISM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3" name="Rectangle 14"/>
          <p:cNvSpPr/>
          <p:nvPr/>
        </p:nvSpPr>
        <p:spPr>
          <a:xfrm>
            <a:off x="5943600" y="14173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" name="Rectangle 15"/>
          <p:cNvSpPr/>
          <p:nvPr/>
        </p:nvSpPr>
        <p:spPr>
          <a:xfrm>
            <a:off x="5943600" y="15177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Rectangle 16"/>
          <p:cNvSpPr/>
          <p:nvPr/>
        </p:nvSpPr>
        <p:spPr>
          <a:xfrm>
            <a:off x="5943600" y="16185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Rectangle 17"/>
          <p:cNvSpPr/>
          <p:nvPr/>
        </p:nvSpPr>
        <p:spPr>
          <a:xfrm>
            <a:off x="5943600" y="17190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7" name="Rectangle 18"/>
          <p:cNvSpPr/>
          <p:nvPr/>
        </p:nvSpPr>
        <p:spPr>
          <a:xfrm>
            <a:off x="5943600" y="18198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Rectangle 19"/>
          <p:cNvSpPr/>
          <p:nvPr/>
        </p:nvSpPr>
        <p:spPr>
          <a:xfrm>
            <a:off x="5943600" y="19202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Rectangle 20"/>
          <p:cNvSpPr/>
          <p:nvPr/>
        </p:nvSpPr>
        <p:spPr>
          <a:xfrm>
            <a:off x="5943600" y="20206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Rectangle 21"/>
          <p:cNvSpPr/>
          <p:nvPr/>
        </p:nvSpPr>
        <p:spPr>
          <a:xfrm>
            <a:off x="5943600" y="21214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1" name="Rectangle 22"/>
          <p:cNvSpPr/>
          <p:nvPr/>
        </p:nvSpPr>
        <p:spPr>
          <a:xfrm>
            <a:off x="5943600" y="22219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2" name="Rectangle 23"/>
          <p:cNvSpPr/>
          <p:nvPr/>
        </p:nvSpPr>
        <p:spPr>
          <a:xfrm>
            <a:off x="5943600" y="23227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Rectangle 24"/>
          <p:cNvSpPr/>
          <p:nvPr/>
        </p:nvSpPr>
        <p:spPr>
          <a:xfrm>
            <a:off x="5943600" y="24231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Rectangle 25"/>
          <p:cNvSpPr/>
          <p:nvPr/>
        </p:nvSpPr>
        <p:spPr>
          <a:xfrm>
            <a:off x="5943600" y="25236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5" name="Rectangle 26"/>
          <p:cNvSpPr/>
          <p:nvPr/>
        </p:nvSpPr>
        <p:spPr>
          <a:xfrm>
            <a:off x="5943600" y="26244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6" name="Rectangle 27"/>
          <p:cNvSpPr/>
          <p:nvPr/>
        </p:nvSpPr>
        <p:spPr>
          <a:xfrm>
            <a:off x="5943600" y="27248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Rectangle 28"/>
          <p:cNvSpPr/>
          <p:nvPr/>
        </p:nvSpPr>
        <p:spPr>
          <a:xfrm>
            <a:off x="5943600" y="28256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8" name="Rectangle 29"/>
          <p:cNvSpPr/>
          <p:nvPr/>
        </p:nvSpPr>
        <p:spPr>
          <a:xfrm>
            <a:off x="5943600" y="29260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Rectangle 30"/>
          <p:cNvSpPr/>
          <p:nvPr/>
        </p:nvSpPr>
        <p:spPr>
          <a:xfrm>
            <a:off x="5943600" y="30265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Rectangle 31"/>
          <p:cNvSpPr/>
          <p:nvPr/>
        </p:nvSpPr>
        <p:spPr>
          <a:xfrm>
            <a:off x="5943600" y="31273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1" name="Rectangle 32"/>
          <p:cNvSpPr/>
          <p:nvPr/>
        </p:nvSpPr>
        <p:spPr>
          <a:xfrm>
            <a:off x="5943600" y="32277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2" name="Rectangle 33"/>
          <p:cNvSpPr/>
          <p:nvPr/>
        </p:nvSpPr>
        <p:spPr>
          <a:xfrm>
            <a:off x="5943600" y="33285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Rectangle 34"/>
          <p:cNvSpPr/>
          <p:nvPr/>
        </p:nvSpPr>
        <p:spPr>
          <a:xfrm>
            <a:off x="5943600" y="34290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Rectangle 35"/>
          <p:cNvSpPr/>
          <p:nvPr/>
        </p:nvSpPr>
        <p:spPr>
          <a:xfrm>
            <a:off x="5943600" y="35294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5" name="Rectangle 36"/>
          <p:cNvSpPr/>
          <p:nvPr/>
        </p:nvSpPr>
        <p:spPr>
          <a:xfrm>
            <a:off x="5943600" y="36302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Rectangle 37"/>
          <p:cNvSpPr/>
          <p:nvPr/>
        </p:nvSpPr>
        <p:spPr>
          <a:xfrm>
            <a:off x="5943600" y="37306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7" name="Rectangle 38"/>
          <p:cNvSpPr/>
          <p:nvPr/>
        </p:nvSpPr>
        <p:spPr>
          <a:xfrm>
            <a:off x="5943600" y="38314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Rectangle 39"/>
          <p:cNvSpPr/>
          <p:nvPr/>
        </p:nvSpPr>
        <p:spPr>
          <a:xfrm>
            <a:off x="5943600" y="39319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9" name="Rectangle 40"/>
          <p:cNvSpPr/>
          <p:nvPr/>
        </p:nvSpPr>
        <p:spPr>
          <a:xfrm>
            <a:off x="5943600" y="40323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Rectangle 41"/>
          <p:cNvSpPr/>
          <p:nvPr/>
        </p:nvSpPr>
        <p:spPr>
          <a:xfrm>
            <a:off x="5943600" y="41331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1" name="Rectangle 42"/>
          <p:cNvSpPr/>
          <p:nvPr/>
        </p:nvSpPr>
        <p:spPr>
          <a:xfrm>
            <a:off x="5943600" y="42336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Rectangle 43"/>
          <p:cNvSpPr/>
          <p:nvPr/>
        </p:nvSpPr>
        <p:spPr>
          <a:xfrm>
            <a:off x="5943600" y="43344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3" name="Rectangle 44"/>
          <p:cNvSpPr/>
          <p:nvPr/>
        </p:nvSpPr>
        <p:spPr>
          <a:xfrm>
            <a:off x="5943600" y="44348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4" name="Rectangle 45"/>
          <p:cNvSpPr/>
          <p:nvPr/>
        </p:nvSpPr>
        <p:spPr>
          <a:xfrm>
            <a:off x="5943600" y="45352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5" name="Rectangle 46"/>
          <p:cNvSpPr/>
          <p:nvPr/>
        </p:nvSpPr>
        <p:spPr>
          <a:xfrm>
            <a:off x="5943600" y="46360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Rectangle 47"/>
          <p:cNvSpPr/>
          <p:nvPr/>
        </p:nvSpPr>
        <p:spPr>
          <a:xfrm>
            <a:off x="5943600" y="47365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7" name="Rectangle 48"/>
          <p:cNvSpPr/>
          <p:nvPr/>
        </p:nvSpPr>
        <p:spPr>
          <a:xfrm>
            <a:off x="5943600" y="48373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8" name="Rectangle 49"/>
          <p:cNvSpPr/>
          <p:nvPr/>
        </p:nvSpPr>
        <p:spPr>
          <a:xfrm>
            <a:off x="5943600" y="49377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9" name="Rectangle 50"/>
          <p:cNvSpPr/>
          <p:nvPr/>
        </p:nvSpPr>
        <p:spPr>
          <a:xfrm>
            <a:off x="5943600" y="50382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0" name="Rectangle 51"/>
          <p:cNvSpPr/>
          <p:nvPr/>
        </p:nvSpPr>
        <p:spPr>
          <a:xfrm>
            <a:off x="5943600" y="51390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Rectangle 52"/>
          <p:cNvSpPr/>
          <p:nvPr/>
        </p:nvSpPr>
        <p:spPr>
          <a:xfrm>
            <a:off x="5943600" y="52394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2" name="Rectangle 53"/>
          <p:cNvSpPr/>
          <p:nvPr/>
        </p:nvSpPr>
        <p:spPr>
          <a:xfrm>
            <a:off x="5943600" y="53402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3" name="Rectangle 54"/>
          <p:cNvSpPr/>
          <p:nvPr/>
        </p:nvSpPr>
        <p:spPr>
          <a:xfrm>
            <a:off x="5943600" y="54406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Rectangle 55"/>
          <p:cNvSpPr/>
          <p:nvPr/>
        </p:nvSpPr>
        <p:spPr>
          <a:xfrm>
            <a:off x="5943600" y="55411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5" name="Rectangle 56"/>
          <p:cNvSpPr/>
          <p:nvPr/>
        </p:nvSpPr>
        <p:spPr>
          <a:xfrm>
            <a:off x="5943600" y="56419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6" name="Rectangle 57"/>
          <p:cNvSpPr/>
          <p:nvPr/>
        </p:nvSpPr>
        <p:spPr>
          <a:xfrm>
            <a:off x="5943600" y="57423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7" name="Rectangle 58"/>
          <p:cNvSpPr/>
          <p:nvPr/>
        </p:nvSpPr>
        <p:spPr>
          <a:xfrm>
            <a:off x="5943600" y="58431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8" name="Rectangle 59"/>
          <p:cNvSpPr/>
          <p:nvPr/>
        </p:nvSpPr>
        <p:spPr>
          <a:xfrm>
            <a:off x="5943600" y="59436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Rectangle 60"/>
          <p:cNvSpPr/>
          <p:nvPr/>
        </p:nvSpPr>
        <p:spPr>
          <a:xfrm>
            <a:off x="5943600" y="60440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0" name="Rectangle 61"/>
          <p:cNvSpPr/>
          <p:nvPr/>
        </p:nvSpPr>
        <p:spPr>
          <a:xfrm>
            <a:off x="5943600" y="61448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1" name="TextBox 62"/>
          <p:cNvSpPr/>
          <p:nvPr/>
        </p:nvSpPr>
        <p:spPr>
          <a:xfrm>
            <a:off x="6080760" y="1444680"/>
            <a:ext cx="5760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e8a35"/>
                </a:solidFill>
                <a:latin typeface="Calibri"/>
              </a:rPr>
              <a:t>Line profile &amp; extracted parameters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2" name="Rectangle 63"/>
          <p:cNvSpPr/>
          <p:nvPr/>
        </p:nvSpPr>
        <p:spPr>
          <a:xfrm>
            <a:off x="6080760" y="1783080"/>
            <a:ext cx="5760360" cy="187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Rectangle 64"/>
          <p:cNvSpPr/>
          <p:nvPr/>
        </p:nvSpPr>
        <p:spPr>
          <a:xfrm>
            <a:off x="6080760" y="1847160"/>
            <a:ext cx="5760360" cy="2175840"/>
          </a:xfrm>
          <a:prstGeom prst="rect">
            <a:avLst/>
          </a:prstGeom>
          <a:solidFill>
            <a:srgbClr val="f2f2f2"/>
          </a:solidFill>
          <a:ln>
            <a:solidFill>
              <a:srgbClr val="aaaa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4" name="TextBox 65"/>
          <p:cNvSpPr/>
          <p:nvPr/>
        </p:nvSpPr>
        <p:spPr>
          <a:xfrm>
            <a:off x="6190560" y="1956960"/>
            <a:ext cx="5540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1000" spc="-1" strike="noStrike">
                <a:solidFill>
                  <a:srgbClr val="888888"/>
                </a:solidFill>
                <a:latin typeface="Calibri"/>
              </a:rPr>
              <a:t>[ Figure ]</a:t>
            </a:r>
            <a:endParaRPr b="0" lang="en-US" sz="1000" spc="-1" strike="noStrike">
              <a:latin typeface="Arial"/>
            </a:endParaRPr>
          </a:p>
        </p:txBody>
      </p:sp>
      <p:graphicFrame>
        <p:nvGraphicFramePr>
          <p:cNvPr id="185" name="Table 67"/>
          <p:cNvGraphicFramePr/>
          <p:nvPr/>
        </p:nvGraphicFramePr>
        <p:xfrm>
          <a:off x="6080760" y="4160520"/>
          <a:ext cx="5760360" cy="210276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</a:tblGrid>
              <a:tr h="3502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Param.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641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Physical meaning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641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Typical range (CNM)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641c"/>
                    </a:solidFill>
                  </a:tcPr>
                </a:tc>
              </a:tr>
              <a:tr h="350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Te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Electron temperature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&lt; 100 K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0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ne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Electron density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~10⁻² cm⁻³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50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vt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Turbulent velocity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2 – 8 km/s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0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T₀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Radiation temperature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1 000 – 3 000 K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51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L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Cloud depth (los)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&lt; 50 pc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1148400" y="1873080"/>
            <a:ext cx="3880800" cy="2991240"/>
          </a:xfrm>
          <a:prstGeom prst="rect">
            <a:avLst/>
          </a:prstGeom>
          <a:ln w="0">
            <a:noFill/>
          </a:ln>
        </p:spPr>
      </p:pic>
      <p:pic>
        <p:nvPicPr>
          <p:cNvPr id="187" name="" descr=""/>
          <p:cNvPicPr/>
          <p:nvPr/>
        </p:nvPicPr>
        <p:blipFill>
          <a:blip r:embed="rId2"/>
          <a:stretch/>
        </p:blipFill>
        <p:spPr>
          <a:xfrm>
            <a:off x="6167520" y="1847160"/>
            <a:ext cx="5491080" cy="219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"/>
          <p:cNvSpPr/>
          <p:nvPr/>
        </p:nvSpPr>
        <p:spPr>
          <a:xfrm>
            <a:off x="347400" y="164520"/>
            <a:ext cx="1149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Why CRRLs alone are not sufficient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89" name="Rectangle 2"/>
          <p:cNvSpPr/>
          <p:nvPr/>
        </p:nvSpPr>
        <p:spPr>
          <a:xfrm>
            <a:off x="347400" y="969120"/>
            <a:ext cx="1149372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0" name="TextBox 3"/>
          <p:cNvSpPr/>
          <p:nvPr/>
        </p:nvSpPr>
        <p:spPr>
          <a:xfrm>
            <a:off x="347400" y="102420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Four obstacles to identifying physical clouds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91" name="Rectangle 4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2" name="TextBox 5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3" name="Rectangle 6"/>
          <p:cNvSpPr/>
          <p:nvPr/>
        </p:nvSpPr>
        <p:spPr>
          <a:xfrm>
            <a:off x="347400" y="1444680"/>
            <a:ext cx="5655240" cy="37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4" name="Oval 7"/>
          <p:cNvSpPr/>
          <p:nvPr/>
        </p:nvSpPr>
        <p:spPr>
          <a:xfrm>
            <a:off x="457200" y="1536120"/>
            <a:ext cx="347040" cy="347040"/>
          </a:xfrm>
          <a:prstGeom prst="ellipse">
            <a:avLst/>
          </a:prstGeom>
          <a:solidFill>
            <a:srgbClr val="c039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5" name="TextBox 8"/>
          <p:cNvSpPr/>
          <p:nvPr/>
        </p:nvSpPr>
        <p:spPr>
          <a:xfrm>
            <a:off x="457200" y="1536120"/>
            <a:ext cx="347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6" name="TextBox 9"/>
          <p:cNvSpPr/>
          <p:nvPr/>
        </p:nvSpPr>
        <p:spPr>
          <a:xfrm>
            <a:off x="896040" y="1563480"/>
            <a:ext cx="5033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c0392b"/>
                </a:solidFill>
                <a:latin typeface="Calibri"/>
              </a:rPr>
              <a:t>L – T₀ degeneracy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97" name="TextBox 10"/>
          <p:cNvSpPr/>
          <p:nvPr/>
        </p:nvSpPr>
        <p:spPr>
          <a:xfrm>
            <a:off x="457200" y="2039040"/>
            <a:ext cx="5454000" cy="9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Parameters L (cloud depth along the line of sight) and T₀ are hard to constrain independently from CRRLs alone. The χ² surface has multiple local minima.</a:t>
            </a:r>
            <a:endParaRPr b="0" lang="en-US" sz="1150" spc="-1" strike="noStrike">
              <a:latin typeface="Arial"/>
            </a:endParaRPr>
          </a:p>
          <a:p>
            <a:endParaRPr b="0" lang="en-US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→  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An external prior on L is essential.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98" name="Rectangle 11"/>
          <p:cNvSpPr/>
          <p:nvPr/>
        </p:nvSpPr>
        <p:spPr>
          <a:xfrm>
            <a:off x="6185880" y="1444680"/>
            <a:ext cx="5655240" cy="3780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9" name="Oval 12"/>
          <p:cNvSpPr/>
          <p:nvPr/>
        </p:nvSpPr>
        <p:spPr>
          <a:xfrm>
            <a:off x="6295680" y="1536120"/>
            <a:ext cx="347040" cy="347040"/>
          </a:xfrm>
          <a:prstGeom prst="ellipse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0" name="TextBox 13"/>
          <p:cNvSpPr/>
          <p:nvPr/>
        </p:nvSpPr>
        <p:spPr>
          <a:xfrm>
            <a:off x="6295680" y="1536120"/>
            <a:ext cx="347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1" name="TextBox 14"/>
          <p:cNvSpPr/>
          <p:nvPr/>
        </p:nvSpPr>
        <p:spPr>
          <a:xfrm>
            <a:off x="6734520" y="1563480"/>
            <a:ext cx="5033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7ae60"/>
                </a:solidFill>
                <a:latin typeface="Calibri"/>
              </a:rPr>
              <a:t>Superimposed velocity components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2" name="TextBox 15"/>
          <p:cNvSpPr/>
          <p:nvPr/>
        </p:nvSpPr>
        <p:spPr>
          <a:xfrm>
            <a:off x="6295680" y="2039040"/>
            <a:ext cx="5454000" cy="9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Several distinct clouds overlap along a single line of sight at close velocities (e.g. −47, −38, 0 km/s toward Cas A). Line profiles blend at low frequencies, making component separation delicate.</a:t>
            </a:r>
            <a:endParaRPr b="0" lang="en-US" sz="1150" spc="-1" strike="noStrike">
              <a:latin typeface="Arial"/>
            </a:endParaRPr>
          </a:p>
          <a:p>
            <a:endParaRPr b="0" lang="en-US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→  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Independent velocity constraints are required.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03" name="Rectangle 16"/>
          <p:cNvSpPr/>
          <p:nvPr/>
        </p:nvSpPr>
        <p:spPr>
          <a:xfrm>
            <a:off x="347400" y="3758040"/>
            <a:ext cx="5655240" cy="37800"/>
          </a:xfrm>
          <a:prstGeom prst="rect">
            <a:avLst/>
          </a:prstGeom>
          <a:solidFill>
            <a:srgbClr val="2980b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4" name="Oval 17"/>
          <p:cNvSpPr/>
          <p:nvPr/>
        </p:nvSpPr>
        <p:spPr>
          <a:xfrm>
            <a:off x="457200" y="3849480"/>
            <a:ext cx="347040" cy="347040"/>
          </a:xfrm>
          <a:prstGeom prst="ellipse">
            <a:avLst/>
          </a:prstGeom>
          <a:solidFill>
            <a:srgbClr val="2980b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5" name="TextBox 18"/>
          <p:cNvSpPr/>
          <p:nvPr/>
        </p:nvSpPr>
        <p:spPr>
          <a:xfrm>
            <a:off x="457200" y="3849480"/>
            <a:ext cx="347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6" name="TextBox 19"/>
          <p:cNvSpPr/>
          <p:nvPr/>
        </p:nvSpPr>
        <p:spPr>
          <a:xfrm>
            <a:off x="896040" y="3877200"/>
            <a:ext cx="5033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980b9"/>
                </a:solidFill>
                <a:latin typeface="Calibri"/>
              </a:rPr>
              <a:t>Atomic phases without CO counterpart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7" name="TextBox 20"/>
          <p:cNvSpPr/>
          <p:nvPr/>
        </p:nvSpPr>
        <p:spPr>
          <a:xfrm>
            <a:off x="457200" y="4352400"/>
            <a:ext cx="5454000" cy="9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Some diffuse atomic clouds show no detectable CO emission (e.g. +3.5 km/s toward Cyg A). The classical molecular tracer is blind to these phases.</a:t>
            </a:r>
            <a:endParaRPr b="0" lang="en-US" sz="1150" spc="-1" strike="noStrike">
              <a:latin typeface="Arial"/>
            </a:endParaRPr>
          </a:p>
          <a:p>
            <a:endParaRPr b="0" lang="en-US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→  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A diffuse atomic-phase tracer is essential.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08" name="Rectangle 21"/>
          <p:cNvSpPr/>
          <p:nvPr/>
        </p:nvSpPr>
        <p:spPr>
          <a:xfrm>
            <a:off x="6185880" y="3758040"/>
            <a:ext cx="5655240" cy="3780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9" name="Oval 22"/>
          <p:cNvSpPr/>
          <p:nvPr/>
        </p:nvSpPr>
        <p:spPr>
          <a:xfrm>
            <a:off x="6295680" y="3849480"/>
            <a:ext cx="347040" cy="347040"/>
          </a:xfrm>
          <a:prstGeom prst="ellipse">
            <a:avLst/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0" name="TextBox 23"/>
          <p:cNvSpPr/>
          <p:nvPr/>
        </p:nvSpPr>
        <p:spPr>
          <a:xfrm>
            <a:off x="6295680" y="3849480"/>
            <a:ext cx="347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1" name="TextBox 24"/>
          <p:cNvSpPr/>
          <p:nvPr/>
        </p:nvSpPr>
        <p:spPr>
          <a:xfrm>
            <a:off x="6734520" y="3877200"/>
            <a:ext cx="5033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e67e22"/>
                </a:solidFill>
                <a:latin typeface="Calibri"/>
              </a:rPr>
              <a:t>No prior on velocity components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2" name="TextBox 25"/>
          <p:cNvSpPr/>
          <p:nvPr/>
        </p:nvSpPr>
        <p:spPr>
          <a:xfrm>
            <a:off x="6295680" y="4352400"/>
            <a:ext cx="545400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For a source never observed in RRLs, the number of spectral components and their velocities are unknown a priori.</a:t>
            </a:r>
            <a:endParaRPr b="0" lang="en-US" sz="1150" spc="-1" strike="noStrike">
              <a:latin typeface="Arial"/>
            </a:endParaRPr>
          </a:p>
          <a:p>
            <a:endParaRPr b="0" lang="en-US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→  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Multi-wavelength tracers guide the search for CRRLs.</a:t>
            </a:r>
            <a:endParaRPr b="0" lang="en-US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Box 1"/>
          <p:cNvSpPr/>
          <p:nvPr/>
        </p:nvSpPr>
        <p:spPr>
          <a:xfrm>
            <a:off x="347400" y="164520"/>
            <a:ext cx="1149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Analysis Pipeline — Overview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14" name="Rectangle 2"/>
          <p:cNvSpPr/>
          <p:nvPr/>
        </p:nvSpPr>
        <p:spPr>
          <a:xfrm>
            <a:off x="347400" y="969120"/>
            <a:ext cx="1149372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5" name="TextBox 3"/>
          <p:cNvSpPr/>
          <p:nvPr/>
        </p:nvSpPr>
        <p:spPr>
          <a:xfrm>
            <a:off x="347400" y="102420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From raw NenuFAR spectra to physical ISM parameters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6" name="Rectangle 4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7" name="TextBox 5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8" name="Rectangle 6"/>
          <p:cNvSpPr/>
          <p:nvPr/>
        </p:nvSpPr>
        <p:spPr>
          <a:xfrm>
            <a:off x="411480" y="1444680"/>
            <a:ext cx="2011320" cy="320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d6b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9" name="Rectangle 7"/>
          <p:cNvSpPr/>
          <p:nvPr/>
        </p:nvSpPr>
        <p:spPr>
          <a:xfrm>
            <a:off x="411480" y="1444680"/>
            <a:ext cx="2011320" cy="456840"/>
          </a:xfrm>
          <a:prstGeom prst="rect">
            <a:avLst/>
          </a:prstGeom>
          <a:solidFill>
            <a:srgbClr val="7d6b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0" name="TextBox 8"/>
          <p:cNvSpPr/>
          <p:nvPr/>
        </p:nvSpPr>
        <p:spPr>
          <a:xfrm>
            <a:off x="411480" y="1444680"/>
            <a:ext cx="2011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1" name="TextBox 9"/>
          <p:cNvSpPr/>
          <p:nvPr/>
        </p:nvSpPr>
        <p:spPr>
          <a:xfrm>
            <a:off x="411480" y="1947600"/>
            <a:ext cx="20113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7d6b28"/>
                </a:solidFill>
                <a:latin typeface="Calibri"/>
              </a:rPr>
              <a:t>ISM Cloud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7d6b28"/>
                </a:solidFill>
                <a:latin typeface="Calibri"/>
              </a:rPr>
              <a:t>Identification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2" name="TextBox 10"/>
          <p:cNvSpPr/>
          <p:nvPr/>
        </p:nvSpPr>
        <p:spPr>
          <a:xfrm>
            <a:off x="502920" y="2679120"/>
            <a:ext cx="18284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555555"/>
                </a:solidFill>
                <a:latin typeface="Calibri"/>
              </a:rPr>
              <a:t>Dust · CO · HI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</a:rPr>
              <a:t>NenuFAR beams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23" name="TextBox 11"/>
          <p:cNvSpPr/>
          <p:nvPr/>
        </p:nvSpPr>
        <p:spPr>
          <a:xfrm>
            <a:off x="2441520" y="2862000"/>
            <a:ext cx="1641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3e8a35"/>
                </a:solidFill>
                <a:latin typeface="Calibri"/>
              </a:rPr>
              <a:t>→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24" name="TextBox 12"/>
          <p:cNvSpPr/>
          <p:nvPr/>
        </p:nvSpPr>
        <p:spPr>
          <a:xfrm>
            <a:off x="411480" y="4718160"/>
            <a:ext cx="20113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555555"/>
                </a:solidFill>
                <a:latin typeface="Calibri"/>
              </a:rPr>
              <a:t>Notebook 1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25" name="Rectangle 13"/>
          <p:cNvSpPr/>
          <p:nvPr/>
        </p:nvSpPr>
        <p:spPr>
          <a:xfrm>
            <a:off x="2587680" y="1444680"/>
            <a:ext cx="2011320" cy="320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980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6" name="Rectangle 14"/>
          <p:cNvSpPr/>
          <p:nvPr/>
        </p:nvSpPr>
        <p:spPr>
          <a:xfrm>
            <a:off x="2587680" y="1444680"/>
            <a:ext cx="2011320" cy="456840"/>
          </a:xfrm>
          <a:prstGeom prst="rect">
            <a:avLst/>
          </a:prstGeom>
          <a:solidFill>
            <a:srgbClr val="2980b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7" name="TextBox 15"/>
          <p:cNvSpPr/>
          <p:nvPr/>
        </p:nvSpPr>
        <p:spPr>
          <a:xfrm>
            <a:off x="2587680" y="1444680"/>
            <a:ext cx="2011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8" name="TextBox 16"/>
          <p:cNvSpPr/>
          <p:nvPr/>
        </p:nvSpPr>
        <p:spPr>
          <a:xfrm>
            <a:off x="2587680" y="1947600"/>
            <a:ext cx="20113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2980b9"/>
                </a:solidFill>
                <a:latin typeface="Calibri"/>
              </a:rPr>
              <a:t>Spectral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980b9"/>
                </a:solidFill>
                <a:latin typeface="Calibri"/>
              </a:rPr>
              <a:t>Cleaning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9" name="TextBox 17"/>
          <p:cNvSpPr/>
          <p:nvPr/>
        </p:nvSpPr>
        <p:spPr>
          <a:xfrm>
            <a:off x="2679120" y="2679120"/>
            <a:ext cx="18284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555555"/>
                </a:solidFill>
                <a:latin typeface="Calibri"/>
              </a:rPr>
              <a:t>RFI · baseline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</a:rPr>
              <a:t>Time averaging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0" name="TextBox 18"/>
          <p:cNvSpPr/>
          <p:nvPr/>
        </p:nvSpPr>
        <p:spPr>
          <a:xfrm>
            <a:off x="4617720" y="2862000"/>
            <a:ext cx="1641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3e8a35"/>
                </a:solidFill>
                <a:latin typeface="Calibri"/>
              </a:rPr>
              <a:t>→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31" name="TextBox 19"/>
          <p:cNvSpPr/>
          <p:nvPr/>
        </p:nvSpPr>
        <p:spPr>
          <a:xfrm>
            <a:off x="2587680" y="4718160"/>
            <a:ext cx="20113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555555"/>
                </a:solidFill>
                <a:latin typeface="Calibri"/>
              </a:rPr>
              <a:t>Pipelines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2" name="Rectangle 20"/>
          <p:cNvSpPr/>
          <p:nvPr/>
        </p:nvSpPr>
        <p:spPr>
          <a:xfrm>
            <a:off x="4763880" y="1444680"/>
            <a:ext cx="2011320" cy="320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Rectangle 21"/>
          <p:cNvSpPr/>
          <p:nvPr/>
        </p:nvSpPr>
        <p:spPr>
          <a:xfrm>
            <a:off x="4763880" y="1444680"/>
            <a:ext cx="2011320" cy="45684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4" name="TextBox 22"/>
          <p:cNvSpPr/>
          <p:nvPr/>
        </p:nvSpPr>
        <p:spPr>
          <a:xfrm>
            <a:off x="4763880" y="1444680"/>
            <a:ext cx="2011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5" name="TextBox 23"/>
          <p:cNvSpPr/>
          <p:nvPr/>
        </p:nvSpPr>
        <p:spPr>
          <a:xfrm>
            <a:off x="4763880" y="1947600"/>
            <a:ext cx="20113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27ae60"/>
                </a:solidFill>
                <a:latin typeface="Calibri"/>
              </a:rPr>
              <a:t>Weighted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7ae60"/>
                </a:solidFill>
                <a:latin typeface="Calibri"/>
              </a:rPr>
              <a:t>Stacking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36" name="TextBox 24"/>
          <p:cNvSpPr/>
          <p:nvPr/>
        </p:nvSpPr>
        <p:spPr>
          <a:xfrm>
            <a:off x="4855320" y="2679120"/>
            <a:ext cx="18284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555555"/>
                </a:solidFill>
                <a:latin typeface="Calibri"/>
              </a:rPr>
              <a:t>1/σ² weighting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</a:rPr>
              <a:t>n-interval bins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7" name="TextBox 25"/>
          <p:cNvSpPr/>
          <p:nvPr/>
        </p:nvSpPr>
        <p:spPr>
          <a:xfrm>
            <a:off x="6793920" y="2862000"/>
            <a:ext cx="1641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3e8a35"/>
                </a:solidFill>
                <a:latin typeface="Calibri"/>
              </a:rPr>
              <a:t>→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38" name="TextBox 26"/>
          <p:cNvSpPr/>
          <p:nvPr/>
        </p:nvSpPr>
        <p:spPr>
          <a:xfrm>
            <a:off x="4763880" y="4718160"/>
            <a:ext cx="20113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555555"/>
                </a:solidFill>
                <a:latin typeface="Calibri"/>
              </a:rPr>
              <a:t>Notebook 3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9" name="Rectangle 27"/>
          <p:cNvSpPr/>
          <p:nvPr/>
        </p:nvSpPr>
        <p:spPr>
          <a:xfrm>
            <a:off x="6940440" y="1444680"/>
            <a:ext cx="2011320" cy="320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0" name="Rectangle 28"/>
          <p:cNvSpPr/>
          <p:nvPr/>
        </p:nvSpPr>
        <p:spPr>
          <a:xfrm>
            <a:off x="6940440" y="1444680"/>
            <a:ext cx="2011320" cy="456840"/>
          </a:xfrm>
          <a:prstGeom prst="rect">
            <a:avLst/>
          </a:prstGeom>
          <a:solidFill>
            <a:srgbClr val="8e44a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1" name="TextBox 29"/>
          <p:cNvSpPr/>
          <p:nvPr/>
        </p:nvSpPr>
        <p:spPr>
          <a:xfrm>
            <a:off x="6940440" y="1444680"/>
            <a:ext cx="2011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2" name="TextBox 30"/>
          <p:cNvSpPr/>
          <p:nvPr/>
        </p:nvSpPr>
        <p:spPr>
          <a:xfrm>
            <a:off x="6940440" y="1947600"/>
            <a:ext cx="20113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8e44ad"/>
                </a:solidFill>
                <a:latin typeface="Calibri"/>
              </a:rPr>
              <a:t>Voigt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8e44ad"/>
                </a:solidFill>
                <a:latin typeface="Calibri"/>
              </a:rPr>
              <a:t>Fitting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43" name="TextBox 31"/>
          <p:cNvSpPr/>
          <p:nvPr/>
        </p:nvSpPr>
        <p:spPr>
          <a:xfrm>
            <a:off x="7031880" y="2679120"/>
            <a:ext cx="18284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555555"/>
                </a:solidFill>
                <a:latin typeface="Calibri"/>
              </a:rPr>
              <a:t>Centre · FWHM · Area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</a:rPr>
              <a:t>per n-bin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4" name="TextBox 32"/>
          <p:cNvSpPr/>
          <p:nvPr/>
        </p:nvSpPr>
        <p:spPr>
          <a:xfrm>
            <a:off x="8970120" y="2862000"/>
            <a:ext cx="1641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3e8a35"/>
                </a:solidFill>
                <a:latin typeface="Calibri"/>
              </a:rPr>
              <a:t>→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5" name="TextBox 33"/>
          <p:cNvSpPr/>
          <p:nvPr/>
        </p:nvSpPr>
        <p:spPr>
          <a:xfrm>
            <a:off x="6940440" y="4718160"/>
            <a:ext cx="20113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555555"/>
                </a:solidFill>
                <a:latin typeface="Calibri"/>
              </a:rPr>
              <a:t>Notebook 4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46" name="Rectangle 34"/>
          <p:cNvSpPr/>
          <p:nvPr/>
        </p:nvSpPr>
        <p:spPr>
          <a:xfrm>
            <a:off x="9116640" y="1444680"/>
            <a:ext cx="2011320" cy="320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7" name="Rectangle 35"/>
          <p:cNvSpPr/>
          <p:nvPr/>
        </p:nvSpPr>
        <p:spPr>
          <a:xfrm>
            <a:off x="9116640" y="1444680"/>
            <a:ext cx="2011320" cy="45684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8" name="TextBox 36"/>
          <p:cNvSpPr/>
          <p:nvPr/>
        </p:nvSpPr>
        <p:spPr>
          <a:xfrm>
            <a:off x="9116640" y="1444680"/>
            <a:ext cx="2011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9" name="TextBox 37"/>
          <p:cNvSpPr/>
          <p:nvPr/>
        </p:nvSpPr>
        <p:spPr>
          <a:xfrm>
            <a:off x="9116640" y="1947600"/>
            <a:ext cx="20113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400" spc="-1" strike="noStrike">
                <a:solidFill>
                  <a:srgbClr val="e67e22"/>
                </a:solidFill>
                <a:latin typeface="Calibri"/>
              </a:rPr>
              <a:t>χ² Grid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67e22"/>
                </a:solidFill>
                <a:latin typeface="Calibri"/>
              </a:rPr>
              <a:t>Exploration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50" name="TextBox 38"/>
          <p:cNvSpPr/>
          <p:nvPr/>
        </p:nvSpPr>
        <p:spPr>
          <a:xfrm>
            <a:off x="9208080" y="2679120"/>
            <a:ext cx="18284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555555"/>
                </a:solidFill>
                <a:latin typeface="Calibri"/>
              </a:rPr>
              <a:t>Te · ne · L · T₀ · vt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</a:rPr>
              <a:t>constraints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51" name="TextBox 39"/>
          <p:cNvSpPr/>
          <p:nvPr/>
        </p:nvSpPr>
        <p:spPr>
          <a:xfrm>
            <a:off x="9116640" y="4718160"/>
            <a:ext cx="20113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555555"/>
                </a:solidFill>
                <a:latin typeface="Calibri"/>
              </a:rPr>
              <a:t>Notebook 5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Box 44"/>
          <p:cNvSpPr/>
          <p:nvPr/>
        </p:nvSpPr>
        <p:spPr>
          <a:xfrm>
            <a:off x="347400" y="164520"/>
            <a:ext cx="1149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Step 1 — ISM Cloud 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Identification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53" name="Rectangle 65"/>
          <p:cNvSpPr/>
          <p:nvPr/>
        </p:nvSpPr>
        <p:spPr>
          <a:xfrm>
            <a:off x="347400" y="969120"/>
            <a:ext cx="1149372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4" name="TextBox 45"/>
          <p:cNvSpPr/>
          <p:nvPr/>
        </p:nvSpPr>
        <p:spPr>
          <a:xfrm>
            <a:off x="347400" y="102420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Three complementary tracers: 3D dust · CO · HI · NenuFAR beams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55" name="Rectangle 66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6" name="TextBox 46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57" name="Rectangle 68"/>
          <p:cNvSpPr/>
          <p:nvPr/>
        </p:nvSpPr>
        <p:spPr>
          <a:xfrm>
            <a:off x="347400" y="2092680"/>
            <a:ext cx="63720" cy="1444320"/>
          </a:xfrm>
          <a:prstGeom prst="rect">
            <a:avLst/>
          </a:prstGeom>
          <a:solidFill>
            <a:srgbClr val="7d6b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8" name="Rectangle 69"/>
          <p:cNvSpPr/>
          <p:nvPr/>
        </p:nvSpPr>
        <p:spPr>
          <a:xfrm>
            <a:off x="411480" y="2092680"/>
            <a:ext cx="5239080" cy="144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9" name="TextBox 47"/>
          <p:cNvSpPr/>
          <p:nvPr/>
        </p:nvSpPr>
        <p:spPr>
          <a:xfrm>
            <a:off x="530280" y="2184120"/>
            <a:ext cx="5056200" cy="4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Interstellar dust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100" spc="-1" strike="noStrike">
                <a:solidFill>
                  <a:srgbClr val="555555"/>
                </a:solidFill>
                <a:latin typeface="Calibri"/>
              </a:rPr>
              <a:t>Edenhofer et al. 2024  (Gaia DR3)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0" name="TextBox 48"/>
          <p:cNvSpPr/>
          <p:nvPr/>
        </p:nvSpPr>
        <p:spPr>
          <a:xfrm>
            <a:off x="530280" y="2568240"/>
            <a:ext cx="505620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Ang. res.: 14'  ·  Radial res.: ~1 pc  ·  Range: 1.25 kpc</a:t>
            </a:r>
            <a:endParaRPr b="0" lang="en-US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3D mapping of absorbing clouds in the solar neighbourhood. FWHM along the line of sight → prior on L and cloud distance.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61" name="Rectangle 71"/>
          <p:cNvSpPr/>
          <p:nvPr/>
        </p:nvSpPr>
        <p:spPr>
          <a:xfrm>
            <a:off x="347400" y="3647160"/>
            <a:ext cx="63720" cy="144432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2" name="Rectangle 72"/>
          <p:cNvSpPr/>
          <p:nvPr/>
        </p:nvSpPr>
        <p:spPr>
          <a:xfrm>
            <a:off x="411480" y="3647160"/>
            <a:ext cx="5239080" cy="144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3" name="TextBox 49"/>
          <p:cNvSpPr/>
          <p:nvPr/>
        </p:nvSpPr>
        <p:spPr>
          <a:xfrm>
            <a:off x="530280" y="3738600"/>
            <a:ext cx="5056200" cy="4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¹²CO emission  (J = 1–0)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100" spc="-1" strike="noStrike">
                <a:solidFill>
                  <a:srgbClr val="555555"/>
                </a:solidFill>
                <a:latin typeface="Calibri"/>
              </a:rPr>
              <a:t>Dame et al. 2001  (CfA 1.2 m)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4" name="TextBox 50"/>
          <p:cNvSpPr/>
          <p:nvPr/>
        </p:nvSpPr>
        <p:spPr>
          <a:xfrm>
            <a:off x="530280" y="4122720"/>
            <a:ext cx="505620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Ang. res.: 8.5'  ·  Spectral res.: 0.65 km/s  ·  Full Galactic plane</a:t>
            </a:r>
            <a:endParaRPr b="0" lang="en-US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Traces dense molecular gas. Velocity components identified by averaging spectra within the NenuFAR beam.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65" name="Rectangle 73"/>
          <p:cNvSpPr/>
          <p:nvPr/>
        </p:nvSpPr>
        <p:spPr>
          <a:xfrm>
            <a:off x="6126840" y="2091600"/>
            <a:ext cx="63720" cy="144432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6" name="Rectangle 74"/>
          <p:cNvSpPr/>
          <p:nvPr/>
        </p:nvSpPr>
        <p:spPr>
          <a:xfrm>
            <a:off x="6190920" y="2091600"/>
            <a:ext cx="5239080" cy="144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7" name="TextBox 51"/>
          <p:cNvSpPr/>
          <p:nvPr/>
        </p:nvSpPr>
        <p:spPr>
          <a:xfrm>
            <a:off x="6309720" y="2183040"/>
            <a:ext cx="5056200" cy="4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HI 21 cm </a:t>
            </a: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emission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100" spc="-1" strike="noStrike">
                <a:solidFill>
                  <a:srgbClr val="555555"/>
                </a:solidFill>
                <a:latin typeface="Calibri"/>
              </a:rPr>
              <a:t>HI4PI </a:t>
            </a:r>
            <a:r>
              <a:rPr b="0" i="1" lang="en-US" sz="1100" spc="-1" strike="noStrike">
                <a:solidFill>
                  <a:srgbClr val="555555"/>
                </a:solidFill>
                <a:latin typeface="Calibri"/>
              </a:rPr>
              <a:t>Collaboration </a:t>
            </a:r>
            <a:r>
              <a:rPr b="0" i="1" lang="en-US" sz="1100" spc="-1" strike="noStrike">
                <a:solidFill>
                  <a:srgbClr val="555555"/>
                </a:solidFill>
                <a:latin typeface="Calibri"/>
              </a:rPr>
              <a:t>2016  </a:t>
            </a:r>
            <a:r>
              <a:rPr b="0" i="1" lang="en-US" sz="1100" spc="-1" strike="noStrike">
                <a:solidFill>
                  <a:srgbClr val="555555"/>
                </a:solidFill>
                <a:latin typeface="Calibri"/>
              </a:rPr>
              <a:t>(EBHIS)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8" name="TextBox 52"/>
          <p:cNvSpPr/>
          <p:nvPr/>
        </p:nvSpPr>
        <p:spPr>
          <a:xfrm>
            <a:off x="6309720" y="2567160"/>
            <a:ext cx="505620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Ang. res.: 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16.2'  ·  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Spectral res.: 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~1.3 km/s  ·  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Full sky</a:t>
            </a:r>
            <a:endParaRPr b="0" lang="en-US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Traces the 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diffuse 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atomic 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phase, 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including CO-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dark clouds. 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Used 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analogously 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to CO cubes.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69" name="Rectangle 79"/>
          <p:cNvSpPr/>
          <p:nvPr/>
        </p:nvSpPr>
        <p:spPr>
          <a:xfrm>
            <a:off x="347400" y="5928120"/>
            <a:ext cx="11493720" cy="566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41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0" name="TextBox 75"/>
          <p:cNvSpPr/>
          <p:nvPr/>
        </p:nvSpPr>
        <p:spPr>
          <a:xfrm>
            <a:off x="484560" y="6055560"/>
            <a:ext cx="112194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2d641c"/>
                </a:solidFill>
                <a:latin typeface="Calibri"/>
              </a:rPr>
              <a:t>Output: </a:t>
            </a:r>
            <a:r>
              <a:rPr b="1" lang="en-US" sz="1200" spc="-1" strike="noStrike">
                <a:solidFill>
                  <a:srgbClr val="2d641c"/>
                </a:solidFill>
                <a:latin typeface="Calibri"/>
              </a:rPr>
              <a:t>position, </a:t>
            </a:r>
            <a:r>
              <a:rPr b="1" lang="en-US" sz="1200" spc="-1" strike="noStrike">
                <a:solidFill>
                  <a:srgbClr val="2d641c"/>
                </a:solidFill>
                <a:latin typeface="Calibri"/>
              </a:rPr>
              <a:t>distance </a:t>
            </a:r>
            <a:r>
              <a:rPr b="1" lang="en-US" sz="1200" spc="-1" strike="noStrike">
                <a:solidFill>
                  <a:srgbClr val="2d641c"/>
                </a:solidFill>
                <a:latin typeface="Calibri"/>
              </a:rPr>
              <a:t>and depth </a:t>
            </a:r>
            <a:r>
              <a:rPr b="1" lang="en-US" sz="1200" spc="-1" strike="noStrike">
                <a:solidFill>
                  <a:srgbClr val="2d641c"/>
                </a:solidFill>
                <a:latin typeface="Calibri"/>
              </a:rPr>
              <a:t>of each </a:t>
            </a:r>
            <a:r>
              <a:rPr b="1" lang="en-US" sz="1200" spc="-1" strike="noStrike">
                <a:solidFill>
                  <a:srgbClr val="2d641c"/>
                </a:solidFill>
                <a:latin typeface="Calibri"/>
              </a:rPr>
              <a:t>cloud  →  L </a:t>
            </a:r>
            <a:r>
              <a:rPr b="1" lang="en-US" sz="1200" spc="-1" strike="noStrike">
                <a:solidFill>
                  <a:srgbClr val="2d641c"/>
                </a:solidFill>
                <a:latin typeface="Calibri"/>
              </a:rPr>
              <a:t>prior </a:t>
            </a:r>
            <a:r>
              <a:rPr b="1" lang="en-US" sz="1200" spc="-1" strike="noStrike">
                <a:solidFill>
                  <a:srgbClr val="2d641c"/>
                </a:solidFill>
                <a:latin typeface="Calibri"/>
              </a:rPr>
              <a:t>injected </a:t>
            </a:r>
            <a:r>
              <a:rPr b="1" lang="en-US" sz="1200" spc="-1" strike="noStrike">
                <a:solidFill>
                  <a:srgbClr val="2d641c"/>
                </a:solidFill>
                <a:latin typeface="Calibri"/>
              </a:rPr>
              <a:t>into the 5-</a:t>
            </a:r>
            <a:r>
              <a:rPr b="1" lang="en-US" sz="1200" spc="-1" strike="noStrike">
                <a:solidFill>
                  <a:srgbClr val="2d641c"/>
                </a:solidFill>
                <a:latin typeface="Calibri"/>
              </a:rPr>
              <a:t>parameter </a:t>
            </a:r>
            <a:r>
              <a:rPr b="1" lang="en-US" sz="1200" spc="-1" strike="noStrike">
                <a:solidFill>
                  <a:srgbClr val="2d641c"/>
                </a:solidFill>
                <a:latin typeface="Calibri"/>
              </a:rPr>
              <a:t>grid (Te, </a:t>
            </a:r>
            <a:r>
              <a:rPr b="1" lang="en-US" sz="1200" spc="-1" strike="noStrike">
                <a:solidFill>
                  <a:srgbClr val="2d641c"/>
                </a:solidFill>
                <a:latin typeface="Calibri"/>
              </a:rPr>
              <a:t>ne, T₀, vt, </a:t>
            </a:r>
            <a:r>
              <a:rPr b="1" lang="en-US" sz="1200" spc="-1" strike="noStrike">
                <a:solidFill>
                  <a:srgbClr val="2d641c"/>
                </a:solidFill>
                <a:latin typeface="Calibri"/>
              </a:rPr>
              <a:t>L).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1" name="Rectangle 1"/>
          <p:cNvSpPr/>
          <p:nvPr/>
        </p:nvSpPr>
        <p:spPr>
          <a:xfrm>
            <a:off x="6114600" y="3674520"/>
            <a:ext cx="63720" cy="1444320"/>
          </a:xfrm>
          <a:prstGeom prst="rect">
            <a:avLst/>
          </a:prstGeom>
          <a:solidFill>
            <a:srgbClr val="3465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2" name="Rectangle 5"/>
          <p:cNvSpPr/>
          <p:nvPr/>
        </p:nvSpPr>
        <p:spPr>
          <a:xfrm>
            <a:off x="6178680" y="3674520"/>
            <a:ext cx="5239080" cy="144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3" name="TextBox 40"/>
          <p:cNvSpPr/>
          <p:nvPr/>
        </p:nvSpPr>
        <p:spPr>
          <a:xfrm>
            <a:off x="6361560" y="3747240"/>
            <a:ext cx="5056200" cy="4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Theoretical vlsr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100" spc="-1" strike="noStrike">
                <a:solidFill>
                  <a:srgbClr val="555555"/>
                </a:solidFill>
                <a:latin typeface="Calibri"/>
              </a:rPr>
              <a:t>Reid et. al 2019 rotation modeling 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74" name="TextBox 41"/>
          <p:cNvSpPr/>
          <p:nvPr/>
        </p:nvSpPr>
        <p:spPr>
          <a:xfrm>
            <a:off x="6388560" y="4217400"/>
            <a:ext cx="505620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Compute theoretical vlsr vs heliocentric distance using theoretical </a:t>
            </a: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galactic rotation modeling.</a:t>
            </a:r>
            <a:endParaRPr b="0" lang="en-US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Box 27"/>
          <p:cNvSpPr/>
          <p:nvPr/>
        </p:nvSpPr>
        <p:spPr>
          <a:xfrm>
            <a:off x="347400" y="164520"/>
            <a:ext cx="1149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S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t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e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p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 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1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 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—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 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I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S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M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 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C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l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o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u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d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 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I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d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e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n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t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i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f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i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c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a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t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i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o</a:t>
            </a: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n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76" name="Rectangle 75"/>
          <p:cNvSpPr/>
          <p:nvPr/>
        </p:nvSpPr>
        <p:spPr>
          <a:xfrm>
            <a:off x="347400" y="969120"/>
            <a:ext cx="1149372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7" name="TextBox 28"/>
          <p:cNvSpPr/>
          <p:nvPr/>
        </p:nvSpPr>
        <p:spPr>
          <a:xfrm>
            <a:off x="347400" y="102420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Three complementary tracers: 3D dust · CO · HI · NenuFAR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beams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78" name="Rectangle 76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9" name="TextBox 34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80" name="" descr=""/>
          <p:cNvPicPr/>
          <p:nvPr/>
        </p:nvPicPr>
        <p:blipFill>
          <a:blip r:embed="rId1"/>
          <a:stretch/>
        </p:blipFill>
        <p:spPr>
          <a:xfrm>
            <a:off x="7086600" y="3429000"/>
            <a:ext cx="3886200" cy="3331080"/>
          </a:xfrm>
          <a:prstGeom prst="rect">
            <a:avLst/>
          </a:prstGeom>
          <a:ln w="0">
            <a:noFill/>
          </a:ln>
        </p:spPr>
      </p:pic>
      <p:pic>
        <p:nvPicPr>
          <p:cNvPr id="281" name="" descr=""/>
          <p:cNvPicPr/>
          <p:nvPr/>
        </p:nvPicPr>
        <p:blipFill>
          <a:blip r:embed="rId2"/>
          <a:stretch/>
        </p:blipFill>
        <p:spPr>
          <a:xfrm>
            <a:off x="696600" y="4114800"/>
            <a:ext cx="4561200" cy="2248200"/>
          </a:xfrm>
          <a:prstGeom prst="rect">
            <a:avLst/>
          </a:prstGeom>
          <a:ln w="0">
            <a:noFill/>
          </a:ln>
        </p:spPr>
      </p:pic>
      <p:pic>
        <p:nvPicPr>
          <p:cNvPr id="282" name="" descr=""/>
          <p:cNvPicPr/>
          <p:nvPr/>
        </p:nvPicPr>
        <p:blipFill>
          <a:blip r:embed="rId3"/>
          <a:stretch/>
        </p:blipFill>
        <p:spPr>
          <a:xfrm>
            <a:off x="685800" y="1686960"/>
            <a:ext cx="5257800" cy="1970640"/>
          </a:xfrm>
          <a:prstGeom prst="rect">
            <a:avLst/>
          </a:prstGeom>
          <a:ln w="0">
            <a:noFill/>
          </a:ln>
        </p:spPr>
      </p:pic>
      <p:pic>
        <p:nvPicPr>
          <p:cNvPr id="283" name="" descr=""/>
          <p:cNvPicPr/>
          <p:nvPr/>
        </p:nvPicPr>
        <p:blipFill>
          <a:blip r:embed="rId4"/>
          <a:stretch/>
        </p:blipFill>
        <p:spPr>
          <a:xfrm>
            <a:off x="6971040" y="685800"/>
            <a:ext cx="4230360" cy="25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Box 1"/>
          <p:cNvSpPr/>
          <p:nvPr/>
        </p:nvSpPr>
        <p:spPr>
          <a:xfrm>
            <a:off x="347400" y="164520"/>
            <a:ext cx="1149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Step 2 — Spectral Cleaning &amp; Temporal Averaging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85" name="Rectangle 2"/>
          <p:cNvSpPr/>
          <p:nvPr/>
        </p:nvSpPr>
        <p:spPr>
          <a:xfrm>
            <a:off x="347400" y="969120"/>
            <a:ext cx="1149372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6" name="TextBox 3"/>
          <p:cNvSpPr/>
          <p:nvPr/>
        </p:nvSpPr>
        <p:spPr>
          <a:xfrm>
            <a:off x="347400" y="102420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Pipelines: clean_observation.py  ·  run_time_average.py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87" name="Rectangle 4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8" name="TextBox 5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89" name="TextBox 6"/>
          <p:cNvSpPr/>
          <p:nvPr/>
        </p:nvSpPr>
        <p:spPr>
          <a:xfrm>
            <a:off x="347400" y="1481400"/>
            <a:ext cx="5577480" cy="268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Input: NenuFAR Level-1 FITS spectra (one bloc per observation)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RFI masking: channels with anomalous amplitude are flagged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Continuum subtraction: log-polynomial baseline (McKean et al. 2016)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Doppler correction: LSR velocity shift applied per observation (spectral_tools/tools.py)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Temporal averaging: 1/RMS² inverse-variance weighting over all clean blocs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Output: single alltime FITS spectrum per source per line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90" name="" descr=""/>
          <p:cNvPicPr/>
          <p:nvPr/>
        </p:nvPicPr>
        <p:blipFill>
          <a:blip r:embed="rId1"/>
          <a:stretch/>
        </p:blipFill>
        <p:spPr>
          <a:xfrm>
            <a:off x="6264360" y="1143000"/>
            <a:ext cx="5576760" cy="358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 35"/>
          <p:cNvSpPr/>
          <p:nvPr/>
        </p:nvSpPr>
        <p:spPr>
          <a:xfrm>
            <a:off x="347400" y="164520"/>
            <a:ext cx="1149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Step 2 — Spectral Cleaning &amp; Temporal Averaging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92" name="Rectangle 77"/>
          <p:cNvSpPr/>
          <p:nvPr/>
        </p:nvSpPr>
        <p:spPr>
          <a:xfrm>
            <a:off x="347400" y="969120"/>
            <a:ext cx="1149372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3" name="TextBox 42"/>
          <p:cNvSpPr/>
          <p:nvPr/>
        </p:nvSpPr>
        <p:spPr>
          <a:xfrm>
            <a:off x="347400" y="102420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Pipelines: clean_observation.py  ·  run_time_average.py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94" name="Rectangle 78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5" name="TextBox 43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6" name="TextBox 53"/>
          <p:cNvSpPr/>
          <p:nvPr/>
        </p:nvSpPr>
        <p:spPr>
          <a:xfrm>
            <a:off x="347400" y="1481400"/>
            <a:ext cx="5577480" cy="268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Input: NenuFAR Level-1 FITS spectra (one bloc per observation)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RFI masking: channels with anomalous amplitude are flagged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Continuum subtraction: log-polynomial baseline (McKean et al. 2016)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Doppler correction: LSR velocity shift applied per observation (spectral_tools/tools.py)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Temporal averaging: 1/RMS² inverse-variance weighting over all clean blocs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Output: single alltime FITS spectrum per source per line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97" name="" descr=""/>
          <p:cNvPicPr/>
          <p:nvPr/>
        </p:nvPicPr>
        <p:blipFill>
          <a:blip r:embed="rId1"/>
          <a:stretch/>
        </p:blipFill>
        <p:spPr>
          <a:xfrm>
            <a:off x="6714000" y="1229760"/>
            <a:ext cx="4975200" cy="357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Box 54"/>
          <p:cNvSpPr/>
          <p:nvPr/>
        </p:nvSpPr>
        <p:spPr>
          <a:xfrm>
            <a:off x="347400" y="164520"/>
            <a:ext cx="1149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Step 2 — Spectral Cleaning &amp; Temporal Averaging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99" name="Rectangle 80"/>
          <p:cNvSpPr/>
          <p:nvPr/>
        </p:nvSpPr>
        <p:spPr>
          <a:xfrm>
            <a:off x="347400" y="969120"/>
            <a:ext cx="1149372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0" name="TextBox 55"/>
          <p:cNvSpPr/>
          <p:nvPr/>
        </p:nvSpPr>
        <p:spPr>
          <a:xfrm>
            <a:off x="347400" y="102420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Pipelines: clean_observation.py  ·  run_time_average.py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01" name="Rectangle 81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2" name="TextBox 57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3" name="TextBox 58"/>
          <p:cNvSpPr/>
          <p:nvPr/>
        </p:nvSpPr>
        <p:spPr>
          <a:xfrm>
            <a:off x="347400" y="1481400"/>
            <a:ext cx="5577480" cy="268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Input: NenuFAR Level-1 FITS spectra (one bloc per observation)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RFI masking: channels with anomalous amplitude are flagged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Continuum subtraction: log-polynomial baseline (McKean et al. 2016)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Doppler correction: LSR velocity shift applied per observation (spectral_tools/tools.py)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Temporal averaging: 1/RMS² inverse-variance weighting over all clean blocs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Output: single alltime FITS spectrum per source per line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304" name="" descr=""/>
          <p:cNvPicPr/>
          <p:nvPr/>
        </p:nvPicPr>
        <p:blipFill>
          <a:blip r:embed="rId1"/>
          <a:stretch/>
        </p:blipFill>
        <p:spPr>
          <a:xfrm>
            <a:off x="6123600" y="1263600"/>
            <a:ext cx="5257800" cy="4633200"/>
          </a:xfrm>
          <a:prstGeom prst="rect">
            <a:avLst/>
          </a:prstGeom>
          <a:ln w="0">
            <a:noFill/>
          </a:ln>
        </p:spPr>
      </p:pic>
      <p:sp>
        <p:nvSpPr>
          <p:cNvPr id="305" name=""/>
          <p:cNvSpPr/>
          <p:nvPr/>
        </p:nvSpPr>
        <p:spPr>
          <a:xfrm>
            <a:off x="5943600" y="4150800"/>
            <a:ext cx="5943600" cy="1746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Box 1"/>
          <p:cNvSpPr/>
          <p:nvPr/>
        </p:nvSpPr>
        <p:spPr>
          <a:xfrm>
            <a:off x="347400" y="164520"/>
            <a:ext cx="1149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Step 3 — Weighted Stacking of CIα RRLs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07" name="Rectangle 2"/>
          <p:cNvSpPr/>
          <p:nvPr/>
        </p:nvSpPr>
        <p:spPr>
          <a:xfrm>
            <a:off x="347400" y="969120"/>
            <a:ext cx="1149372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8" name="TextBox 3"/>
          <p:cNvSpPr/>
          <p:nvPr/>
        </p:nvSpPr>
        <p:spPr>
          <a:xfrm>
            <a:off x="347400" y="102420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Notebook 3_Stacking.ipynb  ·  S/N boost by combining ~450 transitions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09" name="Rectangle 4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0" name="TextBox 5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9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1" name="TextBox 6"/>
          <p:cNvSpPr/>
          <p:nvPr/>
        </p:nvSpPr>
        <p:spPr>
          <a:xfrm>
            <a:off x="347400" y="1481400"/>
            <a:ext cx="5394600" cy="22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CIα transitions span n ~ 400–850 across the NenuFAR bandwidth (10–85 MHz)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Each transition extracted in a velocity window centred on f₀(n)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S/N estimated as signal / wing RMS; contaminated lines rejected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Inverse-variance weighted stack (weight = 1/RMS²) per n-interval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S/N gain vs LOFAR: factor ~4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12" name="Rectangle 7"/>
          <p:cNvSpPr/>
          <p:nvPr/>
        </p:nvSpPr>
        <p:spPr>
          <a:xfrm>
            <a:off x="6153840" y="1554840"/>
            <a:ext cx="5276160" cy="4617360"/>
          </a:xfrm>
          <a:prstGeom prst="rect">
            <a:avLst/>
          </a:prstGeom>
          <a:solidFill>
            <a:srgbClr val="f2f2f2"/>
          </a:solidFill>
          <a:ln>
            <a:solidFill>
              <a:srgbClr val="aaaa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13" name="" descr=""/>
          <p:cNvPicPr/>
          <p:nvPr/>
        </p:nvPicPr>
        <p:blipFill>
          <a:blip r:embed="rId1"/>
          <a:stretch/>
        </p:blipFill>
        <p:spPr>
          <a:xfrm>
            <a:off x="6153840" y="1554840"/>
            <a:ext cx="5276160" cy="464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1"/>
          <p:cNvSpPr/>
          <p:nvPr/>
        </p:nvSpPr>
        <p:spPr>
          <a:xfrm>
            <a:off x="347400" y="164520"/>
            <a:ext cx="1149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Step 4 — Voigt Profile Fitting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15" name="Rectangle 2"/>
          <p:cNvSpPr/>
          <p:nvPr/>
        </p:nvSpPr>
        <p:spPr>
          <a:xfrm>
            <a:off x="347400" y="969120"/>
            <a:ext cx="1149372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6" name="TextBox 3"/>
          <p:cNvSpPr/>
          <p:nvPr/>
        </p:nvSpPr>
        <p:spPr>
          <a:xfrm>
            <a:off x="347400" y="102420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Notebook 4_Line-fitting.ipynb  ·  Extract line parameters per n-bin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17" name="Rectangle 4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8" name="TextBox 5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10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9" name="TextBox 6"/>
          <p:cNvSpPr/>
          <p:nvPr/>
        </p:nvSpPr>
        <p:spPr>
          <a:xfrm>
            <a:off x="347400" y="1481400"/>
            <a:ext cx="5120280" cy="24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Voigt = Gaussian (thermal + turbulent) ⊗ Lorentzian (radiation broadening)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Multi-component fit when several ISM velocity components are detected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Parameters: centre [km/s] · FWHM_G [Hz] · FWHM_L [Hz]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Integrated line area [Hz] with full uncertainty propagation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Output CSV: n, wV, dwV, Ifit, dIfit, CENTER, CENTER_err  (per component)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20" name="Rectangle 10"/>
          <p:cNvSpPr/>
          <p:nvPr/>
        </p:nvSpPr>
        <p:spPr>
          <a:xfrm>
            <a:off x="6802920" y="1483560"/>
            <a:ext cx="4636080" cy="4231440"/>
          </a:xfrm>
          <a:prstGeom prst="rect">
            <a:avLst/>
          </a:prstGeom>
          <a:solidFill>
            <a:srgbClr val="f2f2f2"/>
          </a:solidFill>
          <a:ln>
            <a:solidFill>
              <a:srgbClr val="aaaa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21" name="" descr=""/>
          <p:cNvPicPr/>
          <p:nvPr/>
        </p:nvPicPr>
        <p:blipFill>
          <a:blip r:embed="rId1"/>
          <a:stretch/>
        </p:blipFill>
        <p:spPr>
          <a:xfrm>
            <a:off x="6802920" y="1464840"/>
            <a:ext cx="4636080" cy="425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" descr=""/>
          <p:cNvPicPr/>
          <p:nvPr/>
        </p:nvPicPr>
        <p:blipFill>
          <a:blip r:embed="rId1"/>
          <a:stretch/>
        </p:blipFill>
        <p:spPr>
          <a:xfrm>
            <a:off x="696600" y="2378520"/>
            <a:ext cx="3657600" cy="1361520"/>
          </a:xfrm>
          <a:prstGeom prst="rect">
            <a:avLst/>
          </a:prstGeom>
          <a:ln w="0">
            <a:noFill/>
          </a:ln>
        </p:spPr>
      </p:pic>
      <p:sp>
        <p:nvSpPr>
          <p:cNvPr id="323" name="TextBox 1"/>
          <p:cNvSpPr/>
          <p:nvPr/>
        </p:nvSpPr>
        <p:spPr>
          <a:xfrm>
            <a:off x="347400" y="164520"/>
            <a:ext cx="1149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Physical CRRL Model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24" name="Rectangle 2"/>
          <p:cNvSpPr/>
          <p:nvPr/>
        </p:nvSpPr>
        <p:spPr>
          <a:xfrm>
            <a:off x="347400" y="969120"/>
            <a:ext cx="1149372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5" name="TextBox 3"/>
          <p:cNvSpPr/>
          <p:nvPr/>
        </p:nvSpPr>
        <p:spPr>
          <a:xfrm>
            <a:off x="347400" y="102420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Line broadening &amp; integrated area from non-LTE theory  (spectral_tools/modeling.py)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26" name="Rectangle 4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7" name="TextBox 5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11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28" name="TextBox 6"/>
          <p:cNvSpPr/>
          <p:nvPr/>
        </p:nvSpPr>
        <p:spPr>
          <a:xfrm>
            <a:off x="347400" y="1228680"/>
            <a:ext cx="55774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e8a35"/>
                </a:solidFill>
                <a:latin typeface="Calibri"/>
              </a:rPr>
              <a:t>Total line width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29" name="Rectangle 7"/>
          <p:cNvSpPr/>
          <p:nvPr/>
        </p:nvSpPr>
        <p:spPr>
          <a:xfrm>
            <a:off x="347400" y="1567080"/>
            <a:ext cx="5577480" cy="187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0" name="TextBox 8"/>
          <p:cNvSpPr/>
          <p:nvPr/>
        </p:nvSpPr>
        <p:spPr>
          <a:xfrm>
            <a:off x="347400" y="1631160"/>
            <a:ext cx="557748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50" spc="-1" strike="noStrike">
                <a:solidFill>
                  <a:srgbClr val="1a1a1a"/>
                </a:solidFill>
                <a:latin typeface="Calibri"/>
              </a:rPr>
              <a:t>Δf²_tot  =  Δf²_natural  +  Δf²_Doppler  +  Δf²_pressure  +  Δf²_radiation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31" name="TextBox 10"/>
          <p:cNvSpPr/>
          <p:nvPr/>
        </p:nvSpPr>
        <p:spPr>
          <a:xfrm>
            <a:off x="347400" y="3779280"/>
            <a:ext cx="55774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e8a35"/>
                </a:solidFill>
                <a:latin typeface="Calibri"/>
              </a:rPr>
              <a:t>Integrated area — non-LTE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32" name="Rectangle 11"/>
          <p:cNvSpPr/>
          <p:nvPr/>
        </p:nvSpPr>
        <p:spPr>
          <a:xfrm>
            <a:off x="347400" y="4081680"/>
            <a:ext cx="5577480" cy="187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3" name="TextBox 13"/>
          <p:cNvSpPr/>
          <p:nvPr/>
        </p:nvSpPr>
        <p:spPr>
          <a:xfrm>
            <a:off x="347400" y="4620600"/>
            <a:ext cx="55774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250" spc="-1" strike="noStrike">
                <a:solidFill>
                  <a:srgbClr val="555555"/>
                </a:solidFill>
                <a:latin typeface="Calibri"/>
              </a:rPr>
              <a:t>bₙ, βₙ: non-LTE departure coefficients (pre-computed, interpolated from B1B2.pickle)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25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250" spc="-1" strike="noStrike">
                <a:solidFill>
                  <a:srgbClr val="555555"/>
                </a:solidFill>
                <a:latin typeface="Calibri"/>
              </a:rPr>
              <a:t>f(Te, ne): electron temperature and density dependence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34" name="Rectangle 14"/>
          <p:cNvSpPr/>
          <p:nvPr/>
        </p:nvSpPr>
        <p:spPr>
          <a:xfrm>
            <a:off x="347400" y="5565240"/>
            <a:ext cx="5577480" cy="658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41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5" name="TextBox 15"/>
          <p:cNvSpPr/>
          <p:nvPr/>
        </p:nvSpPr>
        <p:spPr>
          <a:xfrm>
            <a:off x="484560" y="5656680"/>
            <a:ext cx="53031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2d641c"/>
                </a:solidFill>
                <a:latin typeface="Calibri"/>
              </a:rPr>
              <a:t>5 free parameters:  Te [K]  ·  ne [cm⁻³]  ·  L [pc]  ·  T₀ [K]  ·  vt [km/s]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336" name="" descr=""/>
          <p:cNvPicPr/>
          <p:nvPr/>
        </p:nvPicPr>
        <p:blipFill>
          <a:blip r:embed="rId2"/>
          <a:stretch/>
        </p:blipFill>
        <p:spPr>
          <a:xfrm>
            <a:off x="7110720" y="1371600"/>
            <a:ext cx="4709880" cy="4771800"/>
          </a:xfrm>
          <a:prstGeom prst="rect">
            <a:avLst/>
          </a:prstGeom>
          <a:ln w="0">
            <a:noFill/>
          </a:ln>
        </p:spPr>
      </p:pic>
      <p:pic>
        <p:nvPicPr>
          <p:cNvPr id="337" name="" descr=""/>
          <p:cNvPicPr/>
          <p:nvPr/>
        </p:nvPicPr>
        <p:blipFill>
          <a:blip r:embed="rId3"/>
          <a:stretch/>
        </p:blipFill>
        <p:spPr>
          <a:xfrm>
            <a:off x="1947600" y="1949400"/>
            <a:ext cx="2286000" cy="597960"/>
          </a:xfrm>
          <a:prstGeom prst="rect">
            <a:avLst/>
          </a:prstGeom>
          <a:ln w="0">
            <a:noFill/>
          </a:ln>
        </p:spPr>
      </p:pic>
      <p:pic>
        <p:nvPicPr>
          <p:cNvPr id="338" name="" descr=""/>
          <p:cNvPicPr/>
          <p:nvPr/>
        </p:nvPicPr>
        <p:blipFill>
          <a:blip r:embed="rId4"/>
          <a:stretch/>
        </p:blipFill>
        <p:spPr>
          <a:xfrm>
            <a:off x="347400" y="4136400"/>
            <a:ext cx="5596200" cy="48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Box 1"/>
          <p:cNvSpPr/>
          <p:nvPr/>
        </p:nvSpPr>
        <p:spPr>
          <a:xfrm>
            <a:off x="347400" y="164520"/>
            <a:ext cx="1149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Step 5 — χ² Grid Exploration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40" name="Rectangle 2"/>
          <p:cNvSpPr/>
          <p:nvPr/>
        </p:nvSpPr>
        <p:spPr>
          <a:xfrm>
            <a:off x="347400" y="969120"/>
            <a:ext cx="1149372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1" name="TextBox 3"/>
          <p:cNvSpPr/>
          <p:nvPr/>
        </p:nvSpPr>
        <p:spPr>
          <a:xfrm>
            <a:off x="347400" y="102420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Notebook 5_Grid-exploration.ipynb  ·  Constrain Te, ne, L, T₀, vt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2" name="Rectangle 4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3" name="TextBox 5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12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4" name="TextBox 6"/>
          <p:cNvSpPr/>
          <p:nvPr/>
        </p:nvSpPr>
        <p:spPr>
          <a:xfrm>
            <a:off x="347400" y="1481400"/>
            <a:ext cx="5120280" cy="29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5D parameter grid: Te × ne × L × T₀ × vt  (generated by generate_grid.py)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χ² = Σₙ [ (Δf_obs − Δf_mod)² / σ²_Δf  +  (A_obs − A_mod)² / σ²_A ]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Marginalise over parameters via minimum-χ² projection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Confidence regions: +5%, +15%, +30% above χ²_min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Possible geometric mask in (Te, L) plane to impose physical priors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Marginal histograms of each parameter within the accepted solution set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45" name="Rectangle 7"/>
          <p:cNvSpPr/>
          <p:nvPr/>
        </p:nvSpPr>
        <p:spPr>
          <a:xfrm>
            <a:off x="347400" y="5285160"/>
            <a:ext cx="5120280" cy="658080"/>
          </a:xfrm>
          <a:prstGeom prst="rect">
            <a:avLst/>
          </a:prstGeom>
          <a:solidFill>
            <a:srgbClr val="ffffff"/>
          </a:solidFill>
          <a:ln w="25400">
            <a:solidFill>
              <a:srgbClr val="3e8a3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6" name="TextBox 8"/>
          <p:cNvSpPr/>
          <p:nvPr/>
        </p:nvSpPr>
        <p:spPr>
          <a:xfrm>
            <a:off x="484560" y="5376600"/>
            <a:ext cx="48459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e8a35"/>
                </a:solidFill>
                <a:latin typeface="Calibri"/>
              </a:rPr>
              <a:t>Output: best-fit solution (Te, ne, L, T₀, vt) + confidence intervals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7" name="Rectangle 9"/>
          <p:cNvSpPr/>
          <p:nvPr/>
        </p:nvSpPr>
        <p:spPr>
          <a:xfrm>
            <a:off x="5650920" y="1481400"/>
            <a:ext cx="6190200" cy="2400120"/>
          </a:xfrm>
          <a:prstGeom prst="rect">
            <a:avLst/>
          </a:prstGeom>
          <a:solidFill>
            <a:srgbClr val="f2f2f2"/>
          </a:solidFill>
          <a:ln>
            <a:solidFill>
              <a:srgbClr val="aaaa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8" name="Rectangle 82"/>
          <p:cNvSpPr/>
          <p:nvPr/>
        </p:nvSpPr>
        <p:spPr>
          <a:xfrm>
            <a:off x="6629400" y="3909240"/>
            <a:ext cx="4910400" cy="2586240"/>
          </a:xfrm>
          <a:prstGeom prst="rect">
            <a:avLst/>
          </a:prstGeom>
          <a:solidFill>
            <a:srgbClr val="f2f2f2"/>
          </a:solidFill>
          <a:ln>
            <a:solidFill>
              <a:srgbClr val="aaaa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49" name="" descr=""/>
          <p:cNvPicPr/>
          <p:nvPr/>
        </p:nvPicPr>
        <p:blipFill>
          <a:blip r:embed="rId1"/>
          <a:stretch/>
        </p:blipFill>
        <p:spPr>
          <a:xfrm>
            <a:off x="6629400" y="3945960"/>
            <a:ext cx="4910400" cy="2549520"/>
          </a:xfrm>
          <a:prstGeom prst="rect">
            <a:avLst/>
          </a:prstGeom>
          <a:ln w="0">
            <a:noFill/>
          </a:ln>
        </p:spPr>
      </p:pic>
      <p:pic>
        <p:nvPicPr>
          <p:cNvPr id="350" name="" descr=""/>
          <p:cNvPicPr/>
          <p:nvPr/>
        </p:nvPicPr>
        <p:blipFill>
          <a:blip r:embed="rId2"/>
          <a:stretch/>
        </p:blipFill>
        <p:spPr>
          <a:xfrm>
            <a:off x="5752440" y="1663200"/>
            <a:ext cx="2970360" cy="2121840"/>
          </a:xfrm>
          <a:prstGeom prst="rect">
            <a:avLst/>
          </a:prstGeom>
          <a:ln w="0">
            <a:noFill/>
          </a:ln>
        </p:spPr>
      </p:pic>
      <p:pic>
        <p:nvPicPr>
          <p:cNvPr id="351" name="" descr=""/>
          <p:cNvPicPr/>
          <p:nvPr/>
        </p:nvPicPr>
        <p:blipFill>
          <a:blip r:embed="rId3"/>
          <a:stretch/>
        </p:blipFill>
        <p:spPr>
          <a:xfrm>
            <a:off x="8915400" y="1600200"/>
            <a:ext cx="2743200" cy="219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Box 1"/>
          <p:cNvSpPr/>
          <p:nvPr/>
        </p:nvSpPr>
        <p:spPr>
          <a:xfrm>
            <a:off x="347400" y="164520"/>
            <a:ext cx="1149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Results — Physical Conditions of the Diffuse ISM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53" name="Rectangle 2"/>
          <p:cNvSpPr/>
          <p:nvPr/>
        </p:nvSpPr>
        <p:spPr>
          <a:xfrm>
            <a:off x="347400" y="969120"/>
            <a:ext cx="1149372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4" name="TextBox 3"/>
          <p:cNvSpPr/>
          <p:nvPr/>
        </p:nvSpPr>
        <p:spPr>
          <a:xfrm>
            <a:off x="347400" y="102420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Noto Sans CJK SC"/>
              </a:rPr>
              <a:t>Sources: Cassiopeia A  ·  Cygnus A 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·  Taurus A in progress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55" name="Rectangle 4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6" name="TextBox 5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13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357" name="Table 6"/>
          <p:cNvGraphicFramePr/>
          <p:nvPr/>
        </p:nvGraphicFramePr>
        <p:xfrm>
          <a:off x="1139400" y="1481400"/>
          <a:ext cx="9711000" cy="4462200"/>
        </p:xfrm>
        <a:graphic>
          <a:graphicData uri="http://schemas.openxmlformats.org/drawingml/2006/table">
            <a:tbl>
              <a:tblPr/>
              <a:tblGrid>
                <a:gridCol w="1618200"/>
                <a:gridCol w="1618200"/>
                <a:gridCol w="1618200"/>
                <a:gridCol w="1618200"/>
                <a:gridCol w="1620000"/>
              </a:tblGrid>
              <a:tr h="6786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641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Cas A  (−47 km/s)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641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Cas A  (−38 km/s)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641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Cas A  (0 km/s)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641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Cyg 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641c"/>
                    </a:solidFill>
                  </a:tcPr>
                </a:tc>
              </a:tr>
              <a:tr h="630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Te  (K)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35 - 50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37 - 44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…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…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ne  (cm⁻³)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2.7 – 3.9 × 10⁻²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2.5 × 10⁻²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…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…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30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L   (pc)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33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…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…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…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T₀  (K)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1700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…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…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…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30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vt  (km/s)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2.7 – 3.8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…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…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…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vlsr (km/s)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47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38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0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+3.5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58" name="TextBox 21"/>
          <p:cNvSpPr/>
          <p:nvPr/>
        </p:nvSpPr>
        <p:spPr>
          <a:xfrm>
            <a:off x="1307880" y="6051600"/>
            <a:ext cx="9893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555555"/>
                </a:solidFill>
                <a:latin typeface="Calibri"/>
              </a:rPr>
              <a:t>Cros et al 2025</a:t>
            </a:r>
            <a:endParaRPr b="0" i="1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Box 1"/>
          <p:cNvSpPr/>
          <p:nvPr/>
        </p:nvSpPr>
        <p:spPr>
          <a:xfrm>
            <a:off x="347400" y="164520"/>
            <a:ext cx="1149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2d641c"/>
                </a:solidFill>
                <a:latin typeface="Calibri"/>
              </a:rPr>
              <a:t>Summary &amp; Perspectives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60" name="Rectangle 2"/>
          <p:cNvSpPr/>
          <p:nvPr/>
        </p:nvSpPr>
        <p:spPr>
          <a:xfrm>
            <a:off x="347400" y="969120"/>
            <a:ext cx="1149372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1" name="TextBox 3"/>
          <p:cNvSpPr/>
          <p:nvPr/>
        </p:nvSpPr>
        <p:spPr>
          <a:xfrm>
            <a:off x="347400" y="1024200"/>
            <a:ext cx="11493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What was achieved and what comes next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62" name="Rectangle 4"/>
          <p:cNvSpPr/>
          <p:nvPr/>
        </p:nvSpPr>
        <p:spPr>
          <a:xfrm>
            <a:off x="0" y="6492240"/>
            <a:ext cx="12188520" cy="36540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3" name="TextBox 5"/>
          <p:cNvSpPr/>
          <p:nvPr/>
        </p:nvSpPr>
        <p:spPr>
          <a:xfrm>
            <a:off x="11594520" y="6510600"/>
            <a:ext cx="502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14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64" name="TextBox 6"/>
          <p:cNvSpPr/>
          <p:nvPr/>
        </p:nvSpPr>
        <p:spPr>
          <a:xfrm>
            <a:off x="347400" y="1444680"/>
            <a:ext cx="56552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d641c"/>
                </a:solidFill>
                <a:latin typeface="Calibri"/>
              </a:rPr>
              <a:t>What was achieved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65" name="Rectangle 7"/>
          <p:cNvSpPr/>
          <p:nvPr/>
        </p:nvSpPr>
        <p:spPr>
          <a:xfrm>
            <a:off x="347400" y="1783080"/>
            <a:ext cx="5655240" cy="18720"/>
          </a:xfrm>
          <a:prstGeom prst="rect">
            <a:avLst/>
          </a:prstGeom>
          <a:solidFill>
            <a:srgbClr val="2d64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6" name="TextBox 8"/>
          <p:cNvSpPr/>
          <p:nvPr/>
        </p:nvSpPr>
        <p:spPr>
          <a:xfrm>
            <a:off x="347400" y="1901880"/>
            <a:ext cx="5655240" cy="21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1.  End-to-end pipeline: raw NenuFAR FITS → Te, ne, L, T₀, vt with full uncertainty propagation.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2.  Multi-tracer cloud identification (3D dust + CO + HI) resolves velocity ambiguity and provides an L prior.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3.  Weighted stacking of ~450 n-transitions boosts S/N by a factor ~4 vs LOFAR.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4.  9 components identified over 3 sources, including 4 purely atomic (CO-dark) — demonstrating CRRL complementarity to molecular tracers.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67" name="Rectangle 9"/>
          <p:cNvSpPr/>
          <p:nvPr/>
        </p:nvSpPr>
        <p:spPr>
          <a:xfrm>
            <a:off x="6094440" y="14173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8" name="Rectangle 10"/>
          <p:cNvSpPr/>
          <p:nvPr/>
        </p:nvSpPr>
        <p:spPr>
          <a:xfrm>
            <a:off x="6094440" y="15177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9" name="Rectangle 11"/>
          <p:cNvSpPr/>
          <p:nvPr/>
        </p:nvSpPr>
        <p:spPr>
          <a:xfrm>
            <a:off x="6094440" y="16185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0" name="Rectangle 12"/>
          <p:cNvSpPr/>
          <p:nvPr/>
        </p:nvSpPr>
        <p:spPr>
          <a:xfrm>
            <a:off x="6094440" y="17190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1" name="Rectangle 13"/>
          <p:cNvSpPr/>
          <p:nvPr/>
        </p:nvSpPr>
        <p:spPr>
          <a:xfrm>
            <a:off x="6094440" y="18198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2" name="Rectangle 14"/>
          <p:cNvSpPr/>
          <p:nvPr/>
        </p:nvSpPr>
        <p:spPr>
          <a:xfrm>
            <a:off x="6094440" y="19202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3" name="Rectangle 15"/>
          <p:cNvSpPr/>
          <p:nvPr/>
        </p:nvSpPr>
        <p:spPr>
          <a:xfrm>
            <a:off x="6094440" y="20206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4" name="Rectangle 16"/>
          <p:cNvSpPr/>
          <p:nvPr/>
        </p:nvSpPr>
        <p:spPr>
          <a:xfrm>
            <a:off x="6094440" y="21214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5" name="Rectangle 17"/>
          <p:cNvSpPr/>
          <p:nvPr/>
        </p:nvSpPr>
        <p:spPr>
          <a:xfrm>
            <a:off x="6094440" y="22219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6" name="Rectangle 18"/>
          <p:cNvSpPr/>
          <p:nvPr/>
        </p:nvSpPr>
        <p:spPr>
          <a:xfrm>
            <a:off x="6094440" y="23227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7" name="Rectangle 19"/>
          <p:cNvSpPr/>
          <p:nvPr/>
        </p:nvSpPr>
        <p:spPr>
          <a:xfrm>
            <a:off x="6094440" y="24231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8" name="Rectangle 20"/>
          <p:cNvSpPr/>
          <p:nvPr/>
        </p:nvSpPr>
        <p:spPr>
          <a:xfrm>
            <a:off x="6094440" y="25236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9" name="Rectangle 21"/>
          <p:cNvSpPr/>
          <p:nvPr/>
        </p:nvSpPr>
        <p:spPr>
          <a:xfrm>
            <a:off x="6094440" y="26244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0" name="Rectangle 22"/>
          <p:cNvSpPr/>
          <p:nvPr/>
        </p:nvSpPr>
        <p:spPr>
          <a:xfrm>
            <a:off x="6094440" y="27248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1" name="Rectangle 23"/>
          <p:cNvSpPr/>
          <p:nvPr/>
        </p:nvSpPr>
        <p:spPr>
          <a:xfrm>
            <a:off x="6094440" y="28256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2" name="Rectangle 24"/>
          <p:cNvSpPr/>
          <p:nvPr/>
        </p:nvSpPr>
        <p:spPr>
          <a:xfrm>
            <a:off x="6094440" y="29260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3" name="Rectangle 25"/>
          <p:cNvSpPr/>
          <p:nvPr/>
        </p:nvSpPr>
        <p:spPr>
          <a:xfrm>
            <a:off x="6094440" y="30265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4" name="Rectangle 26"/>
          <p:cNvSpPr/>
          <p:nvPr/>
        </p:nvSpPr>
        <p:spPr>
          <a:xfrm>
            <a:off x="6094440" y="31273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5" name="Rectangle 27"/>
          <p:cNvSpPr/>
          <p:nvPr/>
        </p:nvSpPr>
        <p:spPr>
          <a:xfrm>
            <a:off x="6094440" y="32277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6" name="Rectangle 28"/>
          <p:cNvSpPr/>
          <p:nvPr/>
        </p:nvSpPr>
        <p:spPr>
          <a:xfrm>
            <a:off x="6094440" y="33285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7" name="Rectangle 29"/>
          <p:cNvSpPr/>
          <p:nvPr/>
        </p:nvSpPr>
        <p:spPr>
          <a:xfrm>
            <a:off x="6094440" y="34290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8" name="Rectangle 30"/>
          <p:cNvSpPr/>
          <p:nvPr/>
        </p:nvSpPr>
        <p:spPr>
          <a:xfrm>
            <a:off x="6094440" y="35294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9" name="Rectangle 31"/>
          <p:cNvSpPr/>
          <p:nvPr/>
        </p:nvSpPr>
        <p:spPr>
          <a:xfrm>
            <a:off x="6094440" y="36302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0" name="Rectangle 32"/>
          <p:cNvSpPr/>
          <p:nvPr/>
        </p:nvSpPr>
        <p:spPr>
          <a:xfrm>
            <a:off x="6094440" y="37306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1" name="Rectangle 33"/>
          <p:cNvSpPr/>
          <p:nvPr/>
        </p:nvSpPr>
        <p:spPr>
          <a:xfrm>
            <a:off x="6094440" y="38314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2" name="Rectangle 34"/>
          <p:cNvSpPr/>
          <p:nvPr/>
        </p:nvSpPr>
        <p:spPr>
          <a:xfrm>
            <a:off x="6094440" y="39319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3" name="Rectangle 35"/>
          <p:cNvSpPr/>
          <p:nvPr/>
        </p:nvSpPr>
        <p:spPr>
          <a:xfrm>
            <a:off x="6094440" y="40323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4" name="Rectangle 36"/>
          <p:cNvSpPr/>
          <p:nvPr/>
        </p:nvSpPr>
        <p:spPr>
          <a:xfrm>
            <a:off x="6094440" y="41331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5" name="Rectangle 37"/>
          <p:cNvSpPr/>
          <p:nvPr/>
        </p:nvSpPr>
        <p:spPr>
          <a:xfrm>
            <a:off x="6094440" y="42336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6" name="Rectangle 38"/>
          <p:cNvSpPr/>
          <p:nvPr/>
        </p:nvSpPr>
        <p:spPr>
          <a:xfrm>
            <a:off x="6094440" y="43344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7" name="Rectangle 39"/>
          <p:cNvSpPr/>
          <p:nvPr/>
        </p:nvSpPr>
        <p:spPr>
          <a:xfrm>
            <a:off x="6094440" y="44348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8" name="Rectangle 40"/>
          <p:cNvSpPr/>
          <p:nvPr/>
        </p:nvSpPr>
        <p:spPr>
          <a:xfrm>
            <a:off x="6094440" y="45352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9" name="Rectangle 41"/>
          <p:cNvSpPr/>
          <p:nvPr/>
        </p:nvSpPr>
        <p:spPr>
          <a:xfrm>
            <a:off x="6094440" y="46360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0" name="Rectangle 42"/>
          <p:cNvSpPr/>
          <p:nvPr/>
        </p:nvSpPr>
        <p:spPr>
          <a:xfrm>
            <a:off x="6094440" y="47365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1" name="Rectangle 43"/>
          <p:cNvSpPr/>
          <p:nvPr/>
        </p:nvSpPr>
        <p:spPr>
          <a:xfrm>
            <a:off x="6094440" y="48373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2" name="Rectangle 44"/>
          <p:cNvSpPr/>
          <p:nvPr/>
        </p:nvSpPr>
        <p:spPr>
          <a:xfrm>
            <a:off x="6094440" y="49377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3" name="Rectangle 45"/>
          <p:cNvSpPr/>
          <p:nvPr/>
        </p:nvSpPr>
        <p:spPr>
          <a:xfrm>
            <a:off x="6094440" y="50382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4" name="Rectangle 46"/>
          <p:cNvSpPr/>
          <p:nvPr/>
        </p:nvSpPr>
        <p:spPr>
          <a:xfrm>
            <a:off x="6094440" y="51390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5" name="Rectangle 47"/>
          <p:cNvSpPr/>
          <p:nvPr/>
        </p:nvSpPr>
        <p:spPr>
          <a:xfrm>
            <a:off x="6094440" y="52394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6" name="Rectangle 48"/>
          <p:cNvSpPr/>
          <p:nvPr/>
        </p:nvSpPr>
        <p:spPr>
          <a:xfrm>
            <a:off x="6094440" y="53402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7" name="Rectangle 49"/>
          <p:cNvSpPr/>
          <p:nvPr/>
        </p:nvSpPr>
        <p:spPr>
          <a:xfrm>
            <a:off x="6094440" y="544068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8" name="Rectangle 50"/>
          <p:cNvSpPr/>
          <p:nvPr/>
        </p:nvSpPr>
        <p:spPr>
          <a:xfrm>
            <a:off x="6094440" y="55411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9" name="Rectangle 51"/>
          <p:cNvSpPr/>
          <p:nvPr/>
        </p:nvSpPr>
        <p:spPr>
          <a:xfrm>
            <a:off x="6094440" y="564192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0" name="Rectangle 52"/>
          <p:cNvSpPr/>
          <p:nvPr/>
        </p:nvSpPr>
        <p:spPr>
          <a:xfrm>
            <a:off x="6094440" y="57423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1" name="Rectangle 53"/>
          <p:cNvSpPr/>
          <p:nvPr/>
        </p:nvSpPr>
        <p:spPr>
          <a:xfrm>
            <a:off x="6094440" y="584316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2" name="Rectangle 54"/>
          <p:cNvSpPr/>
          <p:nvPr/>
        </p:nvSpPr>
        <p:spPr>
          <a:xfrm>
            <a:off x="6094440" y="594360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3" name="Rectangle 55"/>
          <p:cNvSpPr/>
          <p:nvPr/>
        </p:nvSpPr>
        <p:spPr>
          <a:xfrm>
            <a:off x="6094440" y="6044040"/>
            <a:ext cx="12240" cy="5436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4" name="TextBox 56"/>
          <p:cNvSpPr/>
          <p:nvPr/>
        </p:nvSpPr>
        <p:spPr>
          <a:xfrm>
            <a:off x="6185880" y="1444680"/>
            <a:ext cx="56552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c8640a"/>
                </a:solidFill>
                <a:latin typeface="Calibri"/>
              </a:rPr>
              <a:t>Next steps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15" name="Rectangle 57"/>
          <p:cNvSpPr/>
          <p:nvPr/>
        </p:nvSpPr>
        <p:spPr>
          <a:xfrm>
            <a:off x="6185880" y="1783080"/>
            <a:ext cx="5655240" cy="18720"/>
          </a:xfrm>
          <a:prstGeom prst="rect">
            <a:avLst/>
          </a:prstGeom>
          <a:solidFill>
            <a:srgbClr val="c864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6" name="Rectangle 58"/>
          <p:cNvSpPr/>
          <p:nvPr/>
        </p:nvSpPr>
        <p:spPr>
          <a:xfrm>
            <a:off x="6185880" y="1901880"/>
            <a:ext cx="5655240" cy="31320"/>
          </a:xfrm>
          <a:prstGeom prst="rect">
            <a:avLst/>
          </a:prstGeom>
          <a:solidFill>
            <a:srgbClr val="3e8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7" name="TextBox 59"/>
          <p:cNvSpPr/>
          <p:nvPr/>
        </p:nvSpPr>
        <p:spPr>
          <a:xfrm>
            <a:off x="6185880" y="1965960"/>
            <a:ext cx="5655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3e8a35"/>
                </a:solidFill>
                <a:latin typeface="Calibri"/>
              </a:rPr>
              <a:t>Extension to new sources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18" name="TextBox 60"/>
          <p:cNvSpPr/>
          <p:nvPr/>
        </p:nvSpPr>
        <p:spPr>
          <a:xfrm>
            <a:off x="6185880" y="2322720"/>
            <a:ext cx="565524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Apply to additional NenuFAR pointings (Tau A S2 series, Orion, …). Scale to the full LT10 programme.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419" name="Rectangle 61"/>
          <p:cNvSpPr/>
          <p:nvPr/>
        </p:nvSpPr>
        <p:spPr>
          <a:xfrm>
            <a:off x="6185880" y="3044880"/>
            <a:ext cx="5655240" cy="31320"/>
          </a:xfrm>
          <a:prstGeom prst="rect">
            <a:avLst/>
          </a:prstGeom>
          <a:solidFill>
            <a:srgbClr val="2980b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0" name="TextBox 62"/>
          <p:cNvSpPr/>
          <p:nvPr/>
        </p:nvSpPr>
        <p:spPr>
          <a:xfrm>
            <a:off x="6185880" y="3108960"/>
            <a:ext cx="5655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980b9"/>
                </a:solidFill>
                <a:latin typeface="Calibri"/>
              </a:rPr>
              <a:t>Full automation of Cloud-id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21" name="TextBox 63"/>
          <p:cNvSpPr/>
          <p:nvPr/>
        </p:nvSpPr>
        <p:spPr>
          <a:xfrm>
            <a:off x="6185880" y="3465720"/>
            <a:ext cx="565524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Make line masking and component selection entirely automatic for pipeline-scale processing of large source catalogues.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422" name="Rectangle 64"/>
          <p:cNvSpPr/>
          <p:nvPr/>
        </p:nvSpPr>
        <p:spPr>
          <a:xfrm>
            <a:off x="6185880" y="4187880"/>
            <a:ext cx="5655240" cy="31320"/>
          </a:xfrm>
          <a:prstGeom prst="rect">
            <a:avLst/>
          </a:prstGeom>
          <a:solidFill>
            <a:srgbClr val="7d6b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3" name="TextBox 65"/>
          <p:cNvSpPr/>
          <p:nvPr/>
        </p:nvSpPr>
        <p:spPr>
          <a:xfrm>
            <a:off x="6185880" y="4251960"/>
            <a:ext cx="5655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7d6b28"/>
                </a:solidFill>
                <a:latin typeface="Calibri"/>
              </a:rPr>
              <a:t>Break remaining degeneracies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24" name="TextBox 66"/>
          <p:cNvSpPr/>
          <p:nvPr/>
        </p:nvSpPr>
        <p:spPr>
          <a:xfrm>
            <a:off x="6185880" y="4608720"/>
            <a:ext cx="565524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Observe Cnβ, Cnγ, Cnδ transitions to constrain T₀ and L independently. Use the 45 MHz Galactic background map (Guzman 2011).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425" name="Rectangle 67"/>
          <p:cNvSpPr/>
          <p:nvPr/>
        </p:nvSpPr>
        <p:spPr>
          <a:xfrm>
            <a:off x="6185880" y="5330880"/>
            <a:ext cx="5655240" cy="31320"/>
          </a:xfrm>
          <a:prstGeom prst="rect">
            <a:avLst/>
          </a:prstGeom>
          <a:solidFill>
            <a:srgbClr val="8e44a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6" name="TextBox 68"/>
          <p:cNvSpPr/>
          <p:nvPr/>
        </p:nvSpPr>
        <p:spPr>
          <a:xfrm>
            <a:off x="6185880" y="5394960"/>
            <a:ext cx="5655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8e44ad"/>
                </a:solidFill>
                <a:latin typeface="Calibri"/>
              </a:rPr>
              <a:t>Galactic mapping &amp; SKA preparation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27" name="TextBox 69"/>
          <p:cNvSpPr/>
          <p:nvPr/>
        </p:nvSpPr>
        <p:spPr>
          <a:xfrm>
            <a:off x="6185880" y="5751720"/>
            <a:ext cx="565524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</a:rPr>
              <a:t>Build a (ne, Te) map along the Galactic plane. Adapt the pipeline to forthcoming SKA diffuse-ISM surveys.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428" name="Rectangle 70"/>
          <p:cNvSpPr/>
          <p:nvPr/>
        </p:nvSpPr>
        <p:spPr>
          <a:xfrm>
            <a:off x="347400" y="6144840"/>
            <a:ext cx="11493720" cy="566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41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9" name="TextBox 71"/>
          <p:cNvSpPr/>
          <p:nvPr/>
        </p:nvSpPr>
        <p:spPr>
          <a:xfrm>
            <a:off x="484560" y="6236280"/>
            <a:ext cx="11219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2d641c"/>
                </a:solidFill>
                <a:latin typeface="Calibri"/>
              </a:rPr>
              <a:t>Cloud-id.ipynb makes the identification procedure reproducible, transparent, and extensible to new lines of sight — a prerequisite for a systematic NenuFAR survey of the diffuse ISM.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2026-06-25T13:53:47Z</dcterms:modified>
  <cp:revision>16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